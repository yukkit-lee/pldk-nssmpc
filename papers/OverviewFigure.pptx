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41598850" cy="23399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C7E7"/>
    <a:srgbClr val="DAE3F3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5" autoAdjust="0"/>
    <p:restoredTop sz="93787" autoAdjust="0"/>
  </p:normalViewPr>
  <p:slideViewPr>
    <p:cSldViewPr snapToGrid="0">
      <p:cViewPr>
        <p:scale>
          <a:sx n="50" d="100"/>
          <a:sy n="50" d="100"/>
        </p:scale>
        <p:origin x="-21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99856" y="3829544"/>
            <a:ext cx="31199138" cy="8146580"/>
          </a:xfrm>
        </p:spPr>
        <p:txBody>
          <a:bodyPr anchor="b"/>
          <a:lstStyle>
            <a:lvl1pPr algn="ctr">
              <a:defRPr sz="204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9856" y="12290287"/>
            <a:ext cx="31199138" cy="5649521"/>
          </a:xfrm>
        </p:spPr>
        <p:txBody>
          <a:bodyPr/>
          <a:lstStyle>
            <a:lvl1pPr marL="0" indent="0" algn="ctr">
              <a:buNone/>
              <a:defRPr sz="8189"/>
            </a:lvl1pPr>
            <a:lvl2pPr marL="1559966" indent="0" algn="ctr">
              <a:buNone/>
              <a:defRPr sz="6824"/>
            </a:lvl2pPr>
            <a:lvl3pPr marL="3119933" indent="0" algn="ctr">
              <a:buNone/>
              <a:defRPr sz="6142"/>
            </a:lvl3pPr>
            <a:lvl4pPr marL="4679899" indent="0" algn="ctr">
              <a:buNone/>
              <a:defRPr sz="5459"/>
            </a:lvl4pPr>
            <a:lvl5pPr marL="6239866" indent="0" algn="ctr">
              <a:buNone/>
              <a:defRPr sz="5459"/>
            </a:lvl5pPr>
            <a:lvl6pPr marL="7799832" indent="0" algn="ctr">
              <a:buNone/>
              <a:defRPr sz="5459"/>
            </a:lvl6pPr>
            <a:lvl7pPr marL="9359798" indent="0" algn="ctr">
              <a:buNone/>
              <a:defRPr sz="5459"/>
            </a:lvl7pPr>
            <a:lvl8pPr marL="10919765" indent="0" algn="ctr">
              <a:buNone/>
              <a:defRPr sz="5459"/>
            </a:lvl8pPr>
            <a:lvl9pPr marL="12479731" indent="0" algn="ctr">
              <a:buNone/>
              <a:defRPr sz="545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83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98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8255" y="5833691"/>
            <a:ext cx="35879008" cy="9733644"/>
          </a:xfrm>
        </p:spPr>
        <p:txBody>
          <a:bodyPr anchor="b"/>
          <a:lstStyle>
            <a:lvl1pPr>
              <a:defRPr sz="204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8255" y="15659419"/>
            <a:ext cx="35879008" cy="5118694"/>
          </a:xfrm>
        </p:spPr>
        <p:txBody>
          <a:bodyPr/>
          <a:lstStyle>
            <a:lvl1pPr marL="0" indent="0">
              <a:buNone/>
              <a:defRPr sz="8189">
                <a:solidFill>
                  <a:schemeClr val="tx1">
                    <a:tint val="75000"/>
                  </a:schemeClr>
                </a:solidFill>
              </a:defRPr>
            </a:lvl1pPr>
            <a:lvl2pPr marL="1559966" indent="0">
              <a:buNone/>
              <a:defRPr sz="6824">
                <a:solidFill>
                  <a:schemeClr val="tx1">
                    <a:tint val="75000"/>
                  </a:schemeClr>
                </a:solidFill>
              </a:defRPr>
            </a:lvl2pPr>
            <a:lvl3pPr marL="3119933" indent="0">
              <a:buNone/>
              <a:defRPr sz="6142">
                <a:solidFill>
                  <a:schemeClr val="tx1">
                    <a:tint val="75000"/>
                  </a:schemeClr>
                </a:solidFill>
              </a:defRPr>
            </a:lvl3pPr>
            <a:lvl4pPr marL="4679899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4pPr>
            <a:lvl5pPr marL="6239866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5pPr>
            <a:lvl6pPr marL="7799832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6pPr>
            <a:lvl7pPr marL="9359798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7pPr>
            <a:lvl8pPr marL="10919765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8pPr>
            <a:lvl9pPr marL="12479731" indent="0">
              <a:buNone/>
              <a:defRPr sz="54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27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9921" y="6229100"/>
            <a:ext cx="17679511" cy="148469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59418" y="6229100"/>
            <a:ext cx="17679511" cy="1484692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75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339" y="1245822"/>
            <a:ext cx="35879008" cy="452287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65341" y="5736191"/>
            <a:ext cx="17598262" cy="2811218"/>
          </a:xfrm>
        </p:spPr>
        <p:txBody>
          <a:bodyPr anchor="b"/>
          <a:lstStyle>
            <a:lvl1pPr marL="0" indent="0">
              <a:buNone/>
              <a:defRPr sz="8189" b="1"/>
            </a:lvl1pPr>
            <a:lvl2pPr marL="1559966" indent="0">
              <a:buNone/>
              <a:defRPr sz="6824" b="1"/>
            </a:lvl2pPr>
            <a:lvl3pPr marL="3119933" indent="0">
              <a:buNone/>
              <a:defRPr sz="6142" b="1"/>
            </a:lvl3pPr>
            <a:lvl4pPr marL="4679899" indent="0">
              <a:buNone/>
              <a:defRPr sz="5459" b="1"/>
            </a:lvl4pPr>
            <a:lvl5pPr marL="6239866" indent="0">
              <a:buNone/>
              <a:defRPr sz="5459" b="1"/>
            </a:lvl5pPr>
            <a:lvl6pPr marL="7799832" indent="0">
              <a:buNone/>
              <a:defRPr sz="5459" b="1"/>
            </a:lvl6pPr>
            <a:lvl7pPr marL="9359798" indent="0">
              <a:buNone/>
              <a:defRPr sz="5459" b="1"/>
            </a:lvl7pPr>
            <a:lvl8pPr marL="10919765" indent="0">
              <a:buNone/>
              <a:defRPr sz="5459" b="1"/>
            </a:lvl8pPr>
            <a:lvl9pPr marL="12479731" indent="0">
              <a:buNone/>
              <a:defRPr sz="545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65341" y="8547409"/>
            <a:ext cx="17598262" cy="125719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059418" y="5736191"/>
            <a:ext cx="17684929" cy="2811218"/>
          </a:xfrm>
        </p:spPr>
        <p:txBody>
          <a:bodyPr anchor="b"/>
          <a:lstStyle>
            <a:lvl1pPr marL="0" indent="0">
              <a:buNone/>
              <a:defRPr sz="8189" b="1"/>
            </a:lvl1pPr>
            <a:lvl2pPr marL="1559966" indent="0">
              <a:buNone/>
              <a:defRPr sz="6824" b="1"/>
            </a:lvl2pPr>
            <a:lvl3pPr marL="3119933" indent="0">
              <a:buNone/>
              <a:defRPr sz="6142" b="1"/>
            </a:lvl3pPr>
            <a:lvl4pPr marL="4679899" indent="0">
              <a:buNone/>
              <a:defRPr sz="5459" b="1"/>
            </a:lvl4pPr>
            <a:lvl5pPr marL="6239866" indent="0">
              <a:buNone/>
              <a:defRPr sz="5459" b="1"/>
            </a:lvl5pPr>
            <a:lvl6pPr marL="7799832" indent="0">
              <a:buNone/>
              <a:defRPr sz="5459" b="1"/>
            </a:lvl6pPr>
            <a:lvl7pPr marL="9359798" indent="0">
              <a:buNone/>
              <a:defRPr sz="5459" b="1"/>
            </a:lvl7pPr>
            <a:lvl8pPr marL="10919765" indent="0">
              <a:buNone/>
              <a:defRPr sz="5459" b="1"/>
            </a:lvl8pPr>
            <a:lvl9pPr marL="12479731" indent="0">
              <a:buNone/>
              <a:defRPr sz="545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059418" y="8547409"/>
            <a:ext cx="17684929" cy="125719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982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898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381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341" y="1559983"/>
            <a:ext cx="13416711" cy="5459942"/>
          </a:xfrm>
        </p:spPr>
        <p:txBody>
          <a:bodyPr anchor="b"/>
          <a:lstStyle>
            <a:lvl1pPr>
              <a:defRPr sz="109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84929" y="3369132"/>
            <a:ext cx="21059418" cy="16628989"/>
          </a:xfrm>
        </p:spPr>
        <p:txBody>
          <a:bodyPr/>
          <a:lstStyle>
            <a:lvl1pPr>
              <a:defRPr sz="10918"/>
            </a:lvl1pPr>
            <a:lvl2pPr>
              <a:defRPr sz="9554"/>
            </a:lvl2pPr>
            <a:lvl3pPr>
              <a:defRPr sz="8189"/>
            </a:lvl3pPr>
            <a:lvl4pPr>
              <a:defRPr sz="6824"/>
            </a:lvl4pPr>
            <a:lvl5pPr>
              <a:defRPr sz="6824"/>
            </a:lvl5pPr>
            <a:lvl6pPr>
              <a:defRPr sz="6824"/>
            </a:lvl6pPr>
            <a:lvl7pPr>
              <a:defRPr sz="6824"/>
            </a:lvl7pPr>
            <a:lvl8pPr>
              <a:defRPr sz="6824"/>
            </a:lvl8pPr>
            <a:lvl9pPr>
              <a:defRPr sz="68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5341" y="7019925"/>
            <a:ext cx="13416711" cy="13005279"/>
          </a:xfrm>
        </p:spPr>
        <p:txBody>
          <a:bodyPr/>
          <a:lstStyle>
            <a:lvl1pPr marL="0" indent="0">
              <a:buNone/>
              <a:defRPr sz="5459"/>
            </a:lvl1pPr>
            <a:lvl2pPr marL="1559966" indent="0">
              <a:buNone/>
              <a:defRPr sz="4777"/>
            </a:lvl2pPr>
            <a:lvl3pPr marL="3119933" indent="0">
              <a:buNone/>
              <a:defRPr sz="4094"/>
            </a:lvl3pPr>
            <a:lvl4pPr marL="4679899" indent="0">
              <a:buNone/>
              <a:defRPr sz="3412"/>
            </a:lvl4pPr>
            <a:lvl5pPr marL="6239866" indent="0">
              <a:buNone/>
              <a:defRPr sz="3412"/>
            </a:lvl5pPr>
            <a:lvl6pPr marL="7799832" indent="0">
              <a:buNone/>
              <a:defRPr sz="3412"/>
            </a:lvl6pPr>
            <a:lvl7pPr marL="9359798" indent="0">
              <a:buNone/>
              <a:defRPr sz="3412"/>
            </a:lvl7pPr>
            <a:lvl8pPr marL="10919765" indent="0">
              <a:buNone/>
              <a:defRPr sz="3412"/>
            </a:lvl8pPr>
            <a:lvl9pPr marL="12479731" indent="0">
              <a:buNone/>
              <a:defRPr sz="34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15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5341" y="1559983"/>
            <a:ext cx="13416711" cy="5459942"/>
          </a:xfrm>
        </p:spPr>
        <p:txBody>
          <a:bodyPr anchor="b"/>
          <a:lstStyle>
            <a:lvl1pPr>
              <a:defRPr sz="1091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84929" y="3369132"/>
            <a:ext cx="21059418" cy="16628989"/>
          </a:xfrm>
        </p:spPr>
        <p:txBody>
          <a:bodyPr anchor="t"/>
          <a:lstStyle>
            <a:lvl1pPr marL="0" indent="0">
              <a:buNone/>
              <a:defRPr sz="10918"/>
            </a:lvl1pPr>
            <a:lvl2pPr marL="1559966" indent="0">
              <a:buNone/>
              <a:defRPr sz="9554"/>
            </a:lvl2pPr>
            <a:lvl3pPr marL="3119933" indent="0">
              <a:buNone/>
              <a:defRPr sz="8189"/>
            </a:lvl3pPr>
            <a:lvl4pPr marL="4679899" indent="0">
              <a:buNone/>
              <a:defRPr sz="6824"/>
            </a:lvl4pPr>
            <a:lvl5pPr marL="6239866" indent="0">
              <a:buNone/>
              <a:defRPr sz="6824"/>
            </a:lvl5pPr>
            <a:lvl6pPr marL="7799832" indent="0">
              <a:buNone/>
              <a:defRPr sz="6824"/>
            </a:lvl6pPr>
            <a:lvl7pPr marL="9359798" indent="0">
              <a:buNone/>
              <a:defRPr sz="6824"/>
            </a:lvl7pPr>
            <a:lvl8pPr marL="10919765" indent="0">
              <a:buNone/>
              <a:defRPr sz="6824"/>
            </a:lvl8pPr>
            <a:lvl9pPr marL="12479731" indent="0">
              <a:buNone/>
              <a:defRPr sz="68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5341" y="7019925"/>
            <a:ext cx="13416711" cy="13005279"/>
          </a:xfrm>
        </p:spPr>
        <p:txBody>
          <a:bodyPr/>
          <a:lstStyle>
            <a:lvl1pPr marL="0" indent="0">
              <a:buNone/>
              <a:defRPr sz="5459"/>
            </a:lvl1pPr>
            <a:lvl2pPr marL="1559966" indent="0">
              <a:buNone/>
              <a:defRPr sz="4777"/>
            </a:lvl2pPr>
            <a:lvl3pPr marL="3119933" indent="0">
              <a:buNone/>
              <a:defRPr sz="4094"/>
            </a:lvl3pPr>
            <a:lvl4pPr marL="4679899" indent="0">
              <a:buNone/>
              <a:defRPr sz="3412"/>
            </a:lvl4pPr>
            <a:lvl5pPr marL="6239866" indent="0">
              <a:buNone/>
              <a:defRPr sz="3412"/>
            </a:lvl5pPr>
            <a:lvl6pPr marL="7799832" indent="0">
              <a:buNone/>
              <a:defRPr sz="3412"/>
            </a:lvl6pPr>
            <a:lvl7pPr marL="9359798" indent="0">
              <a:buNone/>
              <a:defRPr sz="3412"/>
            </a:lvl7pPr>
            <a:lvl8pPr marL="10919765" indent="0">
              <a:buNone/>
              <a:defRPr sz="3412"/>
            </a:lvl8pPr>
            <a:lvl9pPr marL="12479731" indent="0">
              <a:buNone/>
              <a:defRPr sz="341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31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3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769177" y="1245820"/>
            <a:ext cx="8969752" cy="198302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59921" y="1245820"/>
            <a:ext cx="26389270" cy="198302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59921" y="1245822"/>
            <a:ext cx="35879008" cy="4522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9921" y="6229100"/>
            <a:ext cx="35879008" cy="14846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59921" y="21688103"/>
            <a:ext cx="9359741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20F93-6DC5-41B2-9582-D50EFC136A32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79619" y="21688103"/>
            <a:ext cx="14039612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379188" y="21688103"/>
            <a:ext cx="9359741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37CF8-8028-4014-A2F0-E9CCB31A9E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24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119933" rtl="0" eaLnBrk="1" latinLnBrk="0" hangingPunct="1">
        <a:lnSpc>
          <a:spcPct val="90000"/>
        </a:lnSpc>
        <a:spcBef>
          <a:spcPct val="0"/>
        </a:spcBef>
        <a:buNone/>
        <a:defRPr sz="150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3" indent="-779983" algn="l" defTabSz="3119933" rtl="0" eaLnBrk="1" latinLnBrk="0" hangingPunct="1">
        <a:lnSpc>
          <a:spcPct val="90000"/>
        </a:lnSpc>
        <a:spcBef>
          <a:spcPts val="3412"/>
        </a:spcBef>
        <a:buFont typeface="Arial" panose="020B0604020202020204" pitchFamily="34" charset="0"/>
        <a:buChar char="•"/>
        <a:defRPr sz="9554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0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818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16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824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2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4pPr>
      <a:lvl5pPr marL="7019849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5pPr>
      <a:lvl6pPr marL="8579815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2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48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4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1pPr>
      <a:lvl2pPr marL="1559966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3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3pPr>
      <a:lvl4pPr marL="4679899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4pPr>
      <a:lvl5pPr marL="6239866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2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6pPr>
      <a:lvl7pPr marL="9359798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5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1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45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4.png"/><Relationship Id="rId2" Type="http://schemas.openxmlformats.org/officeDocument/2006/relationships/image" Target="../media/image35.png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10" Type="http://schemas.openxmlformats.org/officeDocument/2006/relationships/image" Target="../media/image42.svg"/><Relationship Id="rId4" Type="http://schemas.openxmlformats.org/officeDocument/2006/relationships/image" Target="../media/image37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.png"/><Relationship Id="rId10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075A935-DD06-F1A4-87F8-3E1703036D42}"/>
              </a:ext>
            </a:extLst>
          </p:cNvPr>
          <p:cNvSpPr/>
          <p:nvPr/>
        </p:nvSpPr>
        <p:spPr>
          <a:xfrm>
            <a:off x="15182819" y="9726814"/>
            <a:ext cx="2370338" cy="31782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5C54CF-DF1B-AA6C-4B16-1A9475459521}"/>
              </a:ext>
            </a:extLst>
          </p:cNvPr>
          <p:cNvSpPr/>
          <p:nvPr/>
        </p:nvSpPr>
        <p:spPr>
          <a:xfrm>
            <a:off x="15433617" y="10499175"/>
            <a:ext cx="1868749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Dataset A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D6B694A-3394-EA58-0B6E-853EB0ACE55F}"/>
              </a:ext>
            </a:extLst>
          </p:cNvPr>
          <p:cNvSpPr/>
          <p:nvPr/>
        </p:nvSpPr>
        <p:spPr>
          <a:xfrm>
            <a:off x="15433617" y="11102858"/>
            <a:ext cx="1868749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Dataset B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8733F6B-0614-B9E6-6D37-9ABCD44DD5FF}"/>
              </a:ext>
            </a:extLst>
          </p:cNvPr>
          <p:cNvSpPr/>
          <p:nvPr/>
        </p:nvSpPr>
        <p:spPr>
          <a:xfrm>
            <a:off x="15433616" y="11706541"/>
            <a:ext cx="1868749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MTT Train Trajectory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19CD302-48A5-0F8D-245A-82D97F0CD990}"/>
              </a:ext>
            </a:extLst>
          </p:cNvPr>
          <p:cNvSpPr/>
          <p:nvPr/>
        </p:nvSpPr>
        <p:spPr>
          <a:xfrm>
            <a:off x="15433616" y="12310224"/>
            <a:ext cx="1868749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加号 17">
            <a:extLst>
              <a:ext uri="{FF2B5EF4-FFF2-40B4-BE49-F238E27FC236}">
                <a16:creationId xmlns:a16="http://schemas.microsoft.com/office/drawing/2014/main" id="{FDA84AA9-8131-7975-D49A-CE8B33B0B833}"/>
              </a:ext>
            </a:extLst>
          </p:cNvPr>
          <p:cNvSpPr/>
          <p:nvPr/>
        </p:nvSpPr>
        <p:spPr>
          <a:xfrm>
            <a:off x="16283649" y="10889797"/>
            <a:ext cx="159798" cy="177553"/>
          </a:xfrm>
          <a:prstGeom prst="mathPlu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1A58BA7-33CC-0E51-5556-5406757303E9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16367991" y="11466846"/>
            <a:ext cx="1" cy="239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DD78499-0ED9-091F-A3A4-A793DED055AD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16367987" y="12070529"/>
            <a:ext cx="0" cy="239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031B0-7FDB-4A9A-3F8F-D0A3124C3334}"/>
              </a:ext>
            </a:extLst>
          </p:cNvPr>
          <p:cNvSpPr txBox="1"/>
          <p:nvPr/>
        </p:nvSpPr>
        <p:spPr>
          <a:xfrm>
            <a:off x="15429177" y="9780938"/>
            <a:ext cx="186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lang="zh-CN" altLang="en-US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B1E74C8-5F4B-4C1F-C1B4-8F6B7F12592E}"/>
              </a:ext>
            </a:extLst>
          </p:cNvPr>
          <p:cNvSpPr txBox="1"/>
          <p:nvPr/>
        </p:nvSpPr>
        <p:spPr>
          <a:xfrm>
            <a:off x="15429176" y="10074814"/>
            <a:ext cx="1868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Generate Distill Data</a:t>
            </a:r>
            <a:endParaRPr lang="zh-CN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8E3473D-FC4B-AB73-E855-A4D25821AB99}"/>
              </a:ext>
            </a:extLst>
          </p:cNvPr>
          <p:cNvSpPr/>
          <p:nvPr/>
        </p:nvSpPr>
        <p:spPr>
          <a:xfrm>
            <a:off x="17799513" y="9726814"/>
            <a:ext cx="3801865" cy="31782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FFE7B8D-B3E6-AB1C-9B4E-3F09EE3B899F}"/>
              </a:ext>
            </a:extLst>
          </p:cNvPr>
          <p:cNvSpPr txBox="1"/>
          <p:nvPr/>
        </p:nvSpPr>
        <p:spPr>
          <a:xfrm>
            <a:off x="18766070" y="9806665"/>
            <a:ext cx="186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lang="zh-CN" altLang="en-US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F9998B2-007A-992B-48FF-F5AA72A37C14}"/>
              </a:ext>
            </a:extLst>
          </p:cNvPr>
          <p:cNvSpPr txBox="1"/>
          <p:nvPr/>
        </p:nvSpPr>
        <p:spPr>
          <a:xfrm>
            <a:off x="18766070" y="10101963"/>
            <a:ext cx="1868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Secret Sharing 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3C911B9-BFC1-24F3-A175-4BFD4A2DF910}"/>
              </a:ext>
            </a:extLst>
          </p:cNvPr>
          <p:cNvSpPr/>
          <p:nvPr/>
        </p:nvSpPr>
        <p:spPr>
          <a:xfrm>
            <a:off x="18017756" y="10499180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Dataset A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984AB3A-9B33-2B6F-57DE-0B646CDC7240}"/>
              </a:ext>
            </a:extLst>
          </p:cNvPr>
          <p:cNvSpPr/>
          <p:nvPr/>
        </p:nvSpPr>
        <p:spPr>
          <a:xfrm>
            <a:off x="19886505" y="10499180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Dataset B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EE7F306-F98D-B06B-9694-9792A815DD95}"/>
              </a:ext>
            </a:extLst>
          </p:cNvPr>
          <p:cNvSpPr/>
          <p:nvPr/>
        </p:nvSpPr>
        <p:spPr>
          <a:xfrm>
            <a:off x="18017756" y="11056766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A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1834259-A799-6CA8-D985-7AA9F3594D32}"/>
              </a:ext>
            </a:extLst>
          </p:cNvPr>
          <p:cNvSpPr/>
          <p:nvPr/>
        </p:nvSpPr>
        <p:spPr>
          <a:xfrm>
            <a:off x="19886505" y="11053813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B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9A835A2-5F5A-333D-467F-82DD15A1F6C2}"/>
              </a:ext>
            </a:extLst>
          </p:cNvPr>
          <p:cNvSpPr/>
          <p:nvPr/>
        </p:nvSpPr>
        <p:spPr>
          <a:xfrm>
            <a:off x="18952129" y="11698391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Logits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0587CAE-0614-1E5B-978C-32A0AF1B9773}"/>
              </a:ext>
            </a:extLst>
          </p:cNvPr>
          <p:cNvSpPr/>
          <p:nvPr/>
        </p:nvSpPr>
        <p:spPr>
          <a:xfrm>
            <a:off x="18952129" y="12310224"/>
            <a:ext cx="1496627" cy="363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to Ring</a:t>
            </a:r>
            <a:endParaRPr lang="zh-CN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73EBBDE-92D2-E4B5-5C30-B9DF83911A00}"/>
              </a:ext>
            </a:extLst>
          </p:cNvPr>
          <p:cNvCxnSpPr>
            <a:stCxn id="17" idx="3"/>
            <a:endCxn id="36" idx="1"/>
          </p:cNvCxnSpPr>
          <p:nvPr/>
        </p:nvCxnSpPr>
        <p:spPr>
          <a:xfrm>
            <a:off x="17302361" y="12492216"/>
            <a:ext cx="1649764" cy="1330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37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934C-9914-33EA-267C-A47524B6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1A97649-2D94-3DBE-CD0E-AE2AE75270A1}"/>
              </a:ext>
            </a:extLst>
          </p:cNvPr>
          <p:cNvSpPr/>
          <p:nvPr/>
        </p:nvSpPr>
        <p:spPr>
          <a:xfrm>
            <a:off x="11568226" y="12298567"/>
            <a:ext cx="3897297" cy="357890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C16C25-8CFA-7231-F907-54B26829B327}"/>
              </a:ext>
            </a:extLst>
          </p:cNvPr>
          <p:cNvSpPr txBox="1"/>
          <p:nvPr/>
        </p:nvSpPr>
        <p:spPr>
          <a:xfrm>
            <a:off x="12515916" y="12296454"/>
            <a:ext cx="186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lang="zh-CN" altLang="en-US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59F956A-154D-647B-A592-BF3F279B9F9F}"/>
              </a:ext>
            </a:extLst>
          </p:cNvPr>
          <p:cNvSpPr txBox="1"/>
          <p:nvPr/>
        </p:nvSpPr>
        <p:spPr>
          <a:xfrm>
            <a:off x="12408641" y="12597712"/>
            <a:ext cx="221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Local Model Preparation</a:t>
            </a:r>
            <a:endParaRPr lang="zh-CN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22623DC-892E-92F1-BBFF-19C3C0738EE9}"/>
              </a:ext>
            </a:extLst>
          </p:cNvPr>
          <p:cNvSpPr/>
          <p:nvPr/>
        </p:nvSpPr>
        <p:spPr>
          <a:xfrm>
            <a:off x="11987139" y="13048738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b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D_A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F257A11-3B2F-1BA2-40C4-19546F60365C}"/>
              </a:ext>
            </a:extLst>
          </p:cNvPr>
          <p:cNvSpPr/>
          <p:nvPr/>
        </p:nvSpPr>
        <p:spPr>
          <a:xfrm>
            <a:off x="13778392" y="13048738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b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D_B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31C28BE-1B62-861F-4154-73F7402A8074}"/>
              </a:ext>
            </a:extLst>
          </p:cNvPr>
          <p:cNvSpPr/>
          <p:nvPr/>
        </p:nvSpPr>
        <p:spPr>
          <a:xfrm>
            <a:off x="12206306" y="13801118"/>
            <a:ext cx="2621135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MTT Train Trajectory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L_traj = ||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θ̂-θ*||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²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||θ*||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² 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3E7056-2344-9C2A-75E0-D49A24850ED9}"/>
              </a:ext>
            </a:extLst>
          </p:cNvPr>
          <p:cNvSpPr/>
          <p:nvPr/>
        </p:nvSpPr>
        <p:spPr>
          <a:xfrm>
            <a:off x="11987139" y="14553499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 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Dd_A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6EE6A4-B51A-9046-DEE6-540DF7BAEBFE}"/>
              </a:ext>
            </a:extLst>
          </p:cNvPr>
          <p:cNvSpPr/>
          <p:nvPr/>
        </p:nvSpPr>
        <p:spPr>
          <a:xfrm>
            <a:off x="13778392" y="14553499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 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Dd_B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0FC0CC3-3D9A-4FCE-CBDA-9D8B9D8416C9}"/>
              </a:ext>
            </a:extLst>
          </p:cNvPr>
          <p:cNvSpPr/>
          <p:nvPr/>
        </p:nvSpPr>
        <p:spPr>
          <a:xfrm>
            <a:off x="11987139" y="15215483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Traing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T_A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7E81F7A-FE21-1FDD-E332-C66156120E9C}"/>
              </a:ext>
            </a:extLst>
          </p:cNvPr>
          <p:cNvSpPr/>
          <p:nvPr/>
        </p:nvSpPr>
        <p:spPr>
          <a:xfrm>
            <a:off x="13778392" y="15215483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Traing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T_B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C0CFF5F-6BF0-DC31-BEA4-F3169EEA5082}"/>
              </a:ext>
            </a:extLst>
          </p:cNvPr>
          <p:cNvCxnSpPr>
            <a:stCxn id="2" idx="2"/>
          </p:cNvCxnSpPr>
          <p:nvPr/>
        </p:nvCxnSpPr>
        <p:spPr>
          <a:xfrm>
            <a:off x="12593408" y="13519249"/>
            <a:ext cx="0" cy="28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2629ACF-0556-8A30-29FF-F5D4C920F016}"/>
              </a:ext>
            </a:extLst>
          </p:cNvPr>
          <p:cNvCxnSpPr/>
          <p:nvPr/>
        </p:nvCxnSpPr>
        <p:spPr>
          <a:xfrm>
            <a:off x="14379300" y="13519248"/>
            <a:ext cx="0" cy="28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3C070AE-11ED-E441-489F-B69E3B60F812}"/>
              </a:ext>
            </a:extLst>
          </p:cNvPr>
          <p:cNvCxnSpPr/>
          <p:nvPr/>
        </p:nvCxnSpPr>
        <p:spPr>
          <a:xfrm>
            <a:off x="12740076" y="14271625"/>
            <a:ext cx="0" cy="28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F15D069-8625-FF3D-B32F-F44456F01A84}"/>
              </a:ext>
            </a:extLst>
          </p:cNvPr>
          <p:cNvCxnSpPr/>
          <p:nvPr/>
        </p:nvCxnSpPr>
        <p:spPr>
          <a:xfrm>
            <a:off x="14178258" y="14271625"/>
            <a:ext cx="0" cy="28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04ABB85-E774-DFA4-8E6A-D7CED2403EC4}"/>
              </a:ext>
            </a:extLst>
          </p:cNvPr>
          <p:cNvCxnSpPr>
            <a:stCxn id="2" idx="1"/>
            <a:endCxn id="8" idx="1"/>
          </p:cNvCxnSpPr>
          <p:nvPr/>
        </p:nvCxnSpPr>
        <p:spPr>
          <a:xfrm rot="10800000" flipV="1">
            <a:off x="11987139" y="13283993"/>
            <a:ext cx="12700" cy="2166745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BFE342A-7222-54BB-5B4F-A6D74596969F}"/>
              </a:ext>
            </a:extLst>
          </p:cNvPr>
          <p:cNvCxnSpPr>
            <a:cxnSpLocks/>
            <a:stCxn id="3" idx="3"/>
            <a:endCxn id="9" idx="3"/>
          </p:cNvCxnSpPr>
          <p:nvPr/>
        </p:nvCxnSpPr>
        <p:spPr>
          <a:xfrm>
            <a:off x="14990930" y="13283994"/>
            <a:ext cx="12700" cy="2166745"/>
          </a:xfrm>
          <a:prstGeom prst="bentConnector3">
            <a:avLst>
              <a:gd name="adj1" fmla="val 1800000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E9FFF924-D4E1-69A8-C20A-07DF5335F266}"/>
              </a:ext>
            </a:extLst>
          </p:cNvPr>
          <p:cNvSpPr/>
          <p:nvPr/>
        </p:nvSpPr>
        <p:spPr>
          <a:xfrm>
            <a:off x="16903700" y="12298567"/>
            <a:ext cx="3505950" cy="35789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B78669E-A9B7-D834-E623-C1DA32CEA8E5}"/>
              </a:ext>
            </a:extLst>
          </p:cNvPr>
          <p:cNvSpPr txBox="1"/>
          <p:nvPr/>
        </p:nvSpPr>
        <p:spPr>
          <a:xfrm>
            <a:off x="17668842" y="12337876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lang="zh-CN" altLang="en-US" b="1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3DE4261-151D-5CEC-49CA-FFF1362EBB0B}"/>
              </a:ext>
            </a:extLst>
          </p:cNvPr>
          <p:cNvSpPr txBox="1"/>
          <p:nvPr/>
        </p:nvSpPr>
        <p:spPr>
          <a:xfrm>
            <a:off x="17528556" y="12644505"/>
            <a:ext cx="2326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MPC Encoding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B894227B-FF65-2A42-6D11-C0B6496FF1C0}"/>
                  </a:ext>
                </a:extLst>
              </p:cNvPr>
              <p:cNvSpPr/>
              <p:nvPr/>
            </p:nvSpPr>
            <p:spPr>
              <a:xfrm>
                <a:off x="17346112" y="13047683"/>
                <a:ext cx="2621135" cy="72797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Fixed-Point Encoding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Z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l-GR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B894227B-FF65-2A42-6D11-C0B6496FF1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6112" y="13047683"/>
                <a:ext cx="2621135" cy="72797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5DD9D161-00D0-1AAA-BF8F-E62F5EED0342}"/>
                  </a:ext>
                </a:extLst>
              </p:cNvPr>
              <p:cNvSpPr/>
              <p:nvPr/>
            </p:nvSpPr>
            <p:spPr>
              <a:xfrm>
                <a:off x="17381151" y="14020727"/>
                <a:ext cx="2621135" cy="64585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Additive Secret Sharing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Images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Logits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l-GR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5DD9D161-00D0-1AAA-BF8F-E62F5EED03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151" y="14020727"/>
                <a:ext cx="2621135" cy="645855"/>
              </a:xfrm>
              <a:prstGeom prst="roundRect">
                <a:avLst/>
              </a:prstGeom>
              <a:blipFill>
                <a:blip r:embed="rId3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48BCA42-2F8E-0E8B-525D-1128F15021C9}"/>
              </a:ext>
            </a:extLst>
          </p:cNvPr>
          <p:cNvCxnSpPr/>
          <p:nvPr/>
        </p:nvCxnSpPr>
        <p:spPr>
          <a:xfrm>
            <a:off x="18691714" y="13741807"/>
            <a:ext cx="0" cy="2818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A0770E2C-1353-56E3-39A8-C223CE5D4850}"/>
              </a:ext>
            </a:extLst>
          </p:cNvPr>
          <p:cNvCxnSpPr/>
          <p:nvPr/>
        </p:nvCxnSpPr>
        <p:spPr>
          <a:xfrm>
            <a:off x="18679771" y="14666582"/>
            <a:ext cx="0" cy="2818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图片 55">
            <a:extLst>
              <a:ext uri="{FF2B5EF4-FFF2-40B4-BE49-F238E27FC236}">
                <a16:creationId xmlns:a16="http://schemas.microsoft.com/office/drawing/2014/main" id="{0E849486-1A6A-7512-2F53-F3BDF0B44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6144" y="14992306"/>
            <a:ext cx="1287261" cy="640261"/>
          </a:xfrm>
          <a:prstGeom prst="rect">
            <a:avLst/>
          </a:prstGeom>
        </p:spPr>
      </p:pic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A8455A7-B685-0339-AD0D-986660097D1A}"/>
              </a:ext>
            </a:extLst>
          </p:cNvPr>
          <p:cNvCxnSpPr>
            <a:cxnSpLocks/>
          </p:cNvCxnSpPr>
          <p:nvPr/>
        </p:nvCxnSpPr>
        <p:spPr>
          <a:xfrm flipV="1">
            <a:off x="15509910" y="14075299"/>
            <a:ext cx="1349407" cy="1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A0D49146-522B-5988-02DC-1E14866C3A3D}"/>
              </a:ext>
            </a:extLst>
          </p:cNvPr>
          <p:cNvSpPr txBox="1"/>
          <p:nvPr/>
        </p:nvSpPr>
        <p:spPr>
          <a:xfrm>
            <a:off x="15671981" y="13746007"/>
            <a:ext cx="105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Raw Logits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43A2C1A6-18FC-10D1-246E-C7B21250D7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7057" y="14189996"/>
            <a:ext cx="722969" cy="354737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2CFC29C3-A368-D8E2-AAC6-5FB148B7F8F0}"/>
              </a:ext>
            </a:extLst>
          </p:cNvPr>
          <p:cNvSpPr txBox="1"/>
          <p:nvPr/>
        </p:nvSpPr>
        <p:spPr>
          <a:xfrm>
            <a:off x="15658869" y="14530517"/>
            <a:ext cx="105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42B873-3887-57AA-BAFD-13C0545464FD}"/>
              </a:ext>
            </a:extLst>
          </p:cNvPr>
          <p:cNvSpPr/>
          <p:nvPr/>
        </p:nvSpPr>
        <p:spPr>
          <a:xfrm>
            <a:off x="21312848" y="12296457"/>
            <a:ext cx="3505950" cy="3578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8FD535-63C9-E9BD-95FA-A82B6862FE7B}"/>
              </a:ext>
            </a:extLst>
          </p:cNvPr>
          <p:cNvSpPr txBox="1"/>
          <p:nvPr/>
        </p:nvSpPr>
        <p:spPr>
          <a:xfrm>
            <a:off x="22042948" y="12348808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endParaRPr lang="zh-CN" altLang="en-US" b="1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1C907D-55B1-CA32-DC7F-5818E83DBD0B}"/>
              </a:ext>
            </a:extLst>
          </p:cNvPr>
          <p:cNvSpPr txBox="1"/>
          <p:nvPr/>
        </p:nvSpPr>
        <p:spPr>
          <a:xfrm>
            <a:off x="21800108" y="12642394"/>
            <a:ext cx="2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Decrypt &amp; Knowledge Alignment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6B4ED96F-6A4A-FCB5-567D-6F1EF69AEEDE}"/>
                  </a:ext>
                </a:extLst>
              </p:cNvPr>
              <p:cNvSpPr/>
              <p:nvPr/>
            </p:nvSpPr>
            <p:spPr>
              <a:xfrm>
                <a:off x="21755258" y="13064077"/>
                <a:ext cx="2621135" cy="656302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Reconstruction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raw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6B4ED96F-6A4A-FCB5-567D-6F1EF69AEE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5258" y="13064077"/>
                <a:ext cx="2621135" cy="6563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50DF4E00-5BD9-5410-8C8D-7147358D98EF}"/>
                  </a:ext>
                </a:extLst>
              </p:cNvPr>
              <p:cNvSpPr/>
              <p:nvPr/>
            </p:nvSpPr>
            <p:spPr>
              <a:xfrm>
                <a:off x="21695424" y="14008167"/>
                <a:ext cx="2746716" cy="656302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Knowledge Alignment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align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raw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src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src</m:t>
                              </m:r>
                            </m:sub>
                          </m:sSub>
                        </m:den>
                      </m:f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m:t></m:t>
                      </m:r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</m:ctrlPr>
                        </m:sSub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global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</m:ctrlPr>
                        </m:sSub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global</m:t>
                          </m:r>
                        </m:sub>
                      </m:sSub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50DF4E00-5BD9-5410-8C8D-7147358D9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5424" y="14008167"/>
                <a:ext cx="2746716" cy="656302"/>
              </a:xfrm>
              <a:prstGeom prst="roundRect">
                <a:avLst/>
              </a:prstGeom>
              <a:blipFill>
                <a:blip r:embed="rId7"/>
                <a:stretch>
                  <a:fillRect t="-11818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88219BE-2257-718C-33CD-073397A34C93}"/>
              </a:ext>
            </a:extLst>
          </p:cNvPr>
          <p:cNvSpPr/>
          <p:nvPr/>
        </p:nvSpPr>
        <p:spPr>
          <a:xfrm>
            <a:off x="21755258" y="14992303"/>
            <a:ext cx="2621135" cy="3876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Teacher Logits</a:t>
            </a:r>
            <a:endParaRPr lang="el-GR" altLang="zh-CN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8CD1352-3373-40EB-C179-6A37D0F0109C}"/>
              </a:ext>
            </a:extLst>
          </p:cNvPr>
          <p:cNvCxnSpPr>
            <a:stCxn id="15" idx="2"/>
            <a:endCxn id="17" idx="0"/>
          </p:cNvCxnSpPr>
          <p:nvPr/>
        </p:nvCxnSpPr>
        <p:spPr>
          <a:xfrm>
            <a:off x="23065826" y="13720379"/>
            <a:ext cx="2959" cy="2877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153D1DD-1C39-22BB-4244-76DA6F5EBD6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 flipH="1">
            <a:off x="23065826" y="14664469"/>
            <a:ext cx="2959" cy="32783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9DCE2E7-43DD-2A58-92F6-FBA5A3838FF3}"/>
              </a:ext>
            </a:extLst>
          </p:cNvPr>
          <p:cNvCxnSpPr>
            <a:cxnSpLocks/>
            <a:stCxn id="44" idx="3"/>
            <a:endCxn id="4" idx="1"/>
          </p:cNvCxnSpPr>
          <p:nvPr/>
        </p:nvCxnSpPr>
        <p:spPr>
          <a:xfrm flipV="1">
            <a:off x="20409650" y="14085905"/>
            <a:ext cx="903198" cy="211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2B15BB0-2C00-4DCA-8152-E8A2DEDF0C7A}"/>
              </a:ext>
            </a:extLst>
          </p:cNvPr>
          <p:cNvSpPr txBox="1"/>
          <p:nvPr/>
        </p:nvSpPr>
        <p:spPr>
          <a:xfrm>
            <a:off x="20288400" y="14112821"/>
            <a:ext cx="119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/>
              <a:t>Encrypted Logits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DB36EA0-1A91-A2B8-3ECA-0FE8FC1BB9CF}"/>
              </a:ext>
            </a:extLst>
          </p:cNvPr>
          <p:cNvSpPr txBox="1"/>
          <p:nvPr/>
        </p:nvSpPr>
        <p:spPr>
          <a:xfrm>
            <a:off x="20262552" y="13651908"/>
            <a:ext cx="119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/>
              <a:t>Encrypted Images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63228A4-9F8C-EF2A-8066-0917ECA0787B}"/>
              </a:ext>
            </a:extLst>
          </p:cNvPr>
          <p:cNvSpPr/>
          <p:nvPr/>
        </p:nvSpPr>
        <p:spPr>
          <a:xfrm>
            <a:off x="25389098" y="12296457"/>
            <a:ext cx="3505950" cy="35789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BA3470A-D6EF-394F-0A3A-1F5A063D0FEC}"/>
              </a:ext>
            </a:extLst>
          </p:cNvPr>
          <p:cNvSpPr txBox="1"/>
          <p:nvPr/>
        </p:nvSpPr>
        <p:spPr>
          <a:xfrm>
            <a:off x="26119198" y="12348808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5B943BB-7A1D-ED75-59C5-EA36A2ADA450}"/>
              </a:ext>
            </a:extLst>
          </p:cNvPr>
          <p:cNvSpPr txBox="1"/>
          <p:nvPr/>
        </p:nvSpPr>
        <p:spPr>
          <a:xfrm>
            <a:off x="25763516" y="12642394"/>
            <a:ext cx="2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 Distillation 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24445B4F-DDD5-4F9C-458B-55B974352A85}"/>
                  </a:ext>
                </a:extLst>
              </p:cNvPr>
              <p:cNvSpPr/>
              <p:nvPr/>
            </p:nvSpPr>
            <p:spPr>
              <a:xfrm>
                <a:off x="25891134" y="12973311"/>
                <a:ext cx="2621135" cy="47051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Augmentation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self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augmentor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imgs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24445B4F-DDD5-4F9C-458B-55B974352A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1134" y="12973311"/>
                <a:ext cx="2621135" cy="470510"/>
              </a:xfrm>
              <a:prstGeom prst="roundRect">
                <a:avLst/>
              </a:prstGeom>
              <a:blipFill>
                <a:blip r:embed="rId8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D4D2E8F0-3A73-3A67-54B4-4714E626AC71}"/>
              </a:ext>
            </a:extLst>
          </p:cNvPr>
          <p:cNvSpPr/>
          <p:nvPr/>
        </p:nvSpPr>
        <p:spPr>
          <a:xfrm>
            <a:off x="25891134" y="13640892"/>
            <a:ext cx="2621135" cy="3137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304CFCDF-1023-7D9E-1DEA-65138DCF6832}"/>
                  </a:ext>
                </a:extLst>
              </p:cNvPr>
              <p:cNvSpPr/>
              <p:nvPr/>
            </p:nvSpPr>
            <p:spPr>
              <a:xfrm>
                <a:off x="25793014" y="14151693"/>
                <a:ext cx="2817370" cy="6302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KD Loss + CE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KD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e>
                        <m:sup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 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d>
                        <m:d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CE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CE</m:t>
                      </m:r>
                      <m:d>
                        <m:d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Student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logits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labels</m:t>
                          </m:r>
                        </m:e>
                      </m:d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304CFCDF-1023-7D9E-1DEA-65138DCF68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3014" y="14151693"/>
                <a:ext cx="2817370" cy="630209"/>
              </a:xfrm>
              <a:prstGeom prst="roundRect">
                <a:avLst/>
              </a:prstGeom>
              <a:blipFill>
                <a:blip r:embed="rId9"/>
                <a:stretch>
                  <a:fillRect t="-1887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671DE16-9658-D542-C5DF-67ECF174CC31}"/>
              </a:ext>
            </a:extLst>
          </p:cNvPr>
          <p:cNvSpPr/>
          <p:nvPr/>
        </p:nvSpPr>
        <p:spPr>
          <a:xfrm>
            <a:off x="26153849" y="14967075"/>
            <a:ext cx="2036704" cy="316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61A5329-66CF-B19A-D4B0-57B5C9790C56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>
            <a:off x="27201700" y="13443823"/>
            <a:ext cx="0" cy="1970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235713A6-EF06-71E0-20F2-1DA376CEAF61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 flipH="1">
            <a:off x="27201701" y="13954622"/>
            <a:ext cx="1" cy="1970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C078FEC-4C15-598F-EC61-3E80AE9238FD}"/>
              </a:ext>
            </a:extLst>
          </p:cNvPr>
          <p:cNvCxnSpPr>
            <a:cxnSpLocks/>
            <a:stCxn id="54" idx="2"/>
          </p:cNvCxnSpPr>
          <p:nvPr/>
        </p:nvCxnSpPr>
        <p:spPr>
          <a:xfrm flipH="1">
            <a:off x="27201700" y="14781902"/>
            <a:ext cx="1" cy="189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9304B70-37A0-66BD-4331-E0A392509C09}"/>
              </a:ext>
            </a:extLst>
          </p:cNvPr>
          <p:cNvCxnSpPr>
            <a:cxnSpLocks/>
            <a:stCxn id="4" idx="3"/>
            <a:endCxn id="42" idx="1"/>
          </p:cNvCxnSpPr>
          <p:nvPr/>
        </p:nvCxnSpPr>
        <p:spPr>
          <a:xfrm>
            <a:off x="24818798" y="14085906"/>
            <a:ext cx="57030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4486F658-54E3-A2B0-84D1-C5B4878C200F}"/>
              </a:ext>
            </a:extLst>
          </p:cNvPr>
          <p:cNvSpPr/>
          <p:nvPr/>
        </p:nvSpPr>
        <p:spPr>
          <a:xfrm>
            <a:off x="26153849" y="15456720"/>
            <a:ext cx="2036704" cy="316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Student Model</a:t>
            </a: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0F65615-8619-E617-575A-3CB353A27B31}"/>
              </a:ext>
            </a:extLst>
          </p:cNvPr>
          <p:cNvCxnSpPr>
            <a:cxnSpLocks/>
          </p:cNvCxnSpPr>
          <p:nvPr/>
        </p:nvCxnSpPr>
        <p:spPr>
          <a:xfrm flipH="1">
            <a:off x="27201700" y="15272812"/>
            <a:ext cx="1" cy="189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1830F72-40CE-3066-F704-D2342BC5C665}"/>
              </a:ext>
            </a:extLst>
          </p:cNvPr>
          <p:cNvCxnSpPr/>
          <p:nvPr/>
        </p:nvCxnSpPr>
        <p:spPr>
          <a:xfrm>
            <a:off x="20906742" y="11591925"/>
            <a:ext cx="0" cy="5740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FC5B319C-69CE-809C-BD23-0E93388F9F14}"/>
              </a:ext>
            </a:extLst>
          </p:cNvPr>
          <p:cNvSpPr/>
          <p:nvPr/>
        </p:nvSpPr>
        <p:spPr>
          <a:xfrm>
            <a:off x="15082498" y="6959573"/>
            <a:ext cx="11494294" cy="39645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6C79EE5-0316-268F-B9D9-BB9F0BE8795A}"/>
              </a:ext>
            </a:extLst>
          </p:cNvPr>
          <p:cNvSpPr/>
          <p:nvPr/>
        </p:nvSpPr>
        <p:spPr>
          <a:xfrm>
            <a:off x="15408349" y="7478029"/>
            <a:ext cx="3666478" cy="31904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FF711402-46A3-BEC5-D309-C0BE0EA29968}"/>
              </a:ext>
            </a:extLst>
          </p:cNvPr>
          <p:cNvSpPr/>
          <p:nvPr/>
        </p:nvSpPr>
        <p:spPr>
          <a:xfrm>
            <a:off x="15559269" y="7628953"/>
            <a:ext cx="1216240" cy="12843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3" name="图形 92">
            <a:extLst>
              <a:ext uri="{FF2B5EF4-FFF2-40B4-BE49-F238E27FC236}">
                <a16:creationId xmlns:a16="http://schemas.microsoft.com/office/drawing/2014/main" id="{2C382359-F2D6-72C5-E9B1-432C7B62C6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778806" y="7882526"/>
            <a:ext cx="777166" cy="777166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0A9B5E72-61F5-9796-A12A-F46C0A6E30C5}"/>
              </a:ext>
            </a:extLst>
          </p:cNvPr>
          <p:cNvSpPr txBox="1"/>
          <p:nvPr/>
        </p:nvSpPr>
        <p:spPr>
          <a:xfrm>
            <a:off x="15642683" y="7610731"/>
            <a:ext cx="10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 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A18F97A-50E1-1D76-3483-81E20FA0D576}"/>
              </a:ext>
            </a:extLst>
          </p:cNvPr>
          <p:cNvSpPr txBox="1"/>
          <p:nvPr/>
        </p:nvSpPr>
        <p:spPr>
          <a:xfrm>
            <a:off x="15617902" y="8605496"/>
            <a:ext cx="109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圆柱体 95">
            <a:extLst>
              <a:ext uri="{FF2B5EF4-FFF2-40B4-BE49-F238E27FC236}">
                <a16:creationId xmlns:a16="http://schemas.microsoft.com/office/drawing/2014/main" id="{C1356C78-A3FE-6DE9-B7E1-12E4B22C4CD7}"/>
              </a:ext>
            </a:extLst>
          </p:cNvPr>
          <p:cNvSpPr/>
          <p:nvPr/>
        </p:nvSpPr>
        <p:spPr>
          <a:xfrm>
            <a:off x="17505697" y="7877087"/>
            <a:ext cx="1216240" cy="882297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0F23925C-5658-21BC-56F6-7ACAA02061F5}"/>
              </a:ext>
            </a:extLst>
          </p:cNvPr>
          <p:cNvSpPr/>
          <p:nvPr/>
        </p:nvSpPr>
        <p:spPr>
          <a:xfrm>
            <a:off x="15559269" y="9249568"/>
            <a:ext cx="1216240" cy="12843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8" name="图形 97">
            <a:extLst>
              <a:ext uri="{FF2B5EF4-FFF2-40B4-BE49-F238E27FC236}">
                <a16:creationId xmlns:a16="http://schemas.microsoft.com/office/drawing/2014/main" id="{087C755A-4D4F-4396-361B-BEE95C8597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778806" y="9503141"/>
            <a:ext cx="777166" cy="77716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AFB63719-7CED-64E7-88EF-C67E1B37929E}"/>
              </a:ext>
            </a:extLst>
          </p:cNvPr>
          <p:cNvSpPr txBox="1"/>
          <p:nvPr/>
        </p:nvSpPr>
        <p:spPr>
          <a:xfrm>
            <a:off x="15676527" y="9231346"/>
            <a:ext cx="10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 B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84D7C2D-4C6D-7F13-C793-EF4A24BCF4A4}"/>
              </a:ext>
            </a:extLst>
          </p:cNvPr>
          <p:cNvSpPr txBox="1"/>
          <p:nvPr/>
        </p:nvSpPr>
        <p:spPr>
          <a:xfrm>
            <a:off x="15617902" y="10226111"/>
            <a:ext cx="109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63BF749-21E4-9876-E341-0BFCCA8F404F}"/>
              </a:ext>
            </a:extLst>
          </p:cNvPr>
          <p:cNvSpPr txBox="1"/>
          <p:nvPr/>
        </p:nvSpPr>
        <p:spPr>
          <a:xfrm>
            <a:off x="17564330" y="8136472"/>
            <a:ext cx="1098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: 圆顶角 101">
            <a:extLst>
              <a:ext uri="{FF2B5EF4-FFF2-40B4-BE49-F238E27FC236}">
                <a16:creationId xmlns:a16="http://schemas.microsoft.com/office/drawing/2014/main" id="{6FEFB9C7-D731-E3A8-69B1-066F68CA6A98}"/>
              </a:ext>
            </a:extLst>
          </p:cNvPr>
          <p:cNvSpPr/>
          <p:nvPr/>
        </p:nvSpPr>
        <p:spPr>
          <a:xfrm>
            <a:off x="17419144" y="9539119"/>
            <a:ext cx="1389355" cy="68580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4E266CC2-F586-58FA-FE33-5547763B6C51}"/>
              </a:ext>
            </a:extLst>
          </p:cNvPr>
          <p:cNvSpPr txBox="1"/>
          <p:nvPr/>
        </p:nvSpPr>
        <p:spPr>
          <a:xfrm>
            <a:off x="17564330" y="9655100"/>
            <a:ext cx="1098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连接符: 曲线 103">
            <a:extLst>
              <a:ext uri="{FF2B5EF4-FFF2-40B4-BE49-F238E27FC236}">
                <a16:creationId xmlns:a16="http://schemas.microsoft.com/office/drawing/2014/main" id="{85CDAFAC-4AEF-B605-F4BF-50A29A528D96}"/>
              </a:ext>
            </a:extLst>
          </p:cNvPr>
          <p:cNvCxnSpPr>
            <a:stCxn id="92" idx="3"/>
          </p:cNvCxnSpPr>
          <p:nvPr/>
        </p:nvCxnSpPr>
        <p:spPr>
          <a:xfrm flipV="1">
            <a:off x="16775509" y="8271113"/>
            <a:ext cx="73018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曲线 104">
            <a:extLst>
              <a:ext uri="{FF2B5EF4-FFF2-40B4-BE49-F238E27FC236}">
                <a16:creationId xmlns:a16="http://schemas.microsoft.com/office/drawing/2014/main" id="{0E17B73B-29CB-7D77-7DE2-44ED0BB0BD04}"/>
              </a:ext>
            </a:extLst>
          </p:cNvPr>
          <p:cNvCxnSpPr>
            <a:cxnSpLocks/>
            <a:endCxn id="102" idx="2"/>
          </p:cNvCxnSpPr>
          <p:nvPr/>
        </p:nvCxnSpPr>
        <p:spPr>
          <a:xfrm rot="16200000" flipH="1">
            <a:off x="16300986" y="8763860"/>
            <a:ext cx="1592685" cy="6436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曲线 105">
            <a:extLst>
              <a:ext uri="{FF2B5EF4-FFF2-40B4-BE49-F238E27FC236}">
                <a16:creationId xmlns:a16="http://schemas.microsoft.com/office/drawing/2014/main" id="{6CC7EA55-86AD-C1E8-260C-87F3B37388DA}"/>
              </a:ext>
            </a:extLst>
          </p:cNvPr>
          <p:cNvCxnSpPr>
            <a:endCxn id="96" idx="2"/>
          </p:cNvCxnSpPr>
          <p:nvPr/>
        </p:nvCxnSpPr>
        <p:spPr>
          <a:xfrm rot="5400000" flipH="1" flipV="1">
            <a:off x="16353856" y="8739883"/>
            <a:ext cx="1573492" cy="7301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连接符: 曲线 106">
            <a:extLst>
              <a:ext uri="{FF2B5EF4-FFF2-40B4-BE49-F238E27FC236}">
                <a16:creationId xmlns:a16="http://schemas.microsoft.com/office/drawing/2014/main" id="{E829E93E-A0ED-8CB9-1135-2821BB677CBB}"/>
              </a:ext>
            </a:extLst>
          </p:cNvPr>
          <p:cNvCxnSpPr>
            <a:endCxn id="102" idx="2"/>
          </p:cNvCxnSpPr>
          <p:nvPr/>
        </p:nvCxnSpPr>
        <p:spPr>
          <a:xfrm>
            <a:off x="16775506" y="9882019"/>
            <a:ext cx="643634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24AE8F83-6EB3-9666-1793-C0B2FB4F111E}"/>
              </a:ext>
            </a:extLst>
          </p:cNvPr>
          <p:cNvSpPr/>
          <p:nvPr/>
        </p:nvSpPr>
        <p:spPr>
          <a:xfrm>
            <a:off x="19323405" y="7478029"/>
            <a:ext cx="3364637" cy="31904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EFCAFE27-0CB4-8CF9-C7A2-4DB40B99A5D7}"/>
              </a:ext>
            </a:extLst>
          </p:cNvPr>
          <p:cNvSpPr/>
          <p:nvPr/>
        </p:nvSpPr>
        <p:spPr>
          <a:xfrm>
            <a:off x="19588296" y="7825755"/>
            <a:ext cx="2931071" cy="1020453"/>
          </a:xfrm>
          <a:prstGeom prst="roundRect">
            <a:avLst/>
          </a:prstGeom>
          <a:solidFill>
            <a:srgbClr val="FFF2C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B3D5E39C-F86B-A8F7-43E2-E38F3D9CF115}"/>
              </a:ext>
            </a:extLst>
          </p:cNvPr>
          <p:cNvSpPr/>
          <p:nvPr/>
        </p:nvSpPr>
        <p:spPr>
          <a:xfrm>
            <a:off x="19588296" y="9325531"/>
            <a:ext cx="2931071" cy="1020453"/>
          </a:xfrm>
          <a:prstGeom prst="roundRect">
            <a:avLst/>
          </a:prstGeom>
          <a:solidFill>
            <a:srgbClr val="FFF2C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1" name="图形 110">
            <a:extLst>
              <a:ext uri="{FF2B5EF4-FFF2-40B4-BE49-F238E27FC236}">
                <a16:creationId xmlns:a16="http://schemas.microsoft.com/office/drawing/2014/main" id="{EDF4B679-1559-E5D5-62C7-C7E8181443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30553" y="7903721"/>
            <a:ext cx="830965" cy="830965"/>
          </a:xfrm>
          <a:prstGeom prst="rect">
            <a:avLst/>
          </a:prstGeom>
        </p:spPr>
      </p:pic>
      <p:sp>
        <p:nvSpPr>
          <p:cNvPr id="112" name="文本框 111">
            <a:extLst>
              <a:ext uri="{FF2B5EF4-FFF2-40B4-BE49-F238E27FC236}">
                <a16:creationId xmlns:a16="http://schemas.microsoft.com/office/drawing/2014/main" id="{EA2278E2-B7BE-739C-8842-AA7655170148}"/>
              </a:ext>
            </a:extLst>
          </p:cNvPr>
          <p:cNvSpPr txBox="1"/>
          <p:nvPr/>
        </p:nvSpPr>
        <p:spPr>
          <a:xfrm>
            <a:off x="20222261" y="8083255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Secure Knowledge Sharing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(Secert Sharing / MPC)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图形 112">
            <a:extLst>
              <a:ext uri="{FF2B5EF4-FFF2-40B4-BE49-F238E27FC236}">
                <a16:creationId xmlns:a16="http://schemas.microsoft.com/office/drawing/2014/main" id="{5E647FC6-7E39-5E13-6D8D-B126088ED8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588292" y="9400972"/>
            <a:ext cx="830966" cy="830966"/>
          </a:xfrm>
          <a:prstGeom prst="rect">
            <a:avLst/>
          </a:prstGeom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91C8C20B-ED11-6BAA-C5CB-51E66A9EFEBB}"/>
              </a:ext>
            </a:extLst>
          </p:cNvPr>
          <p:cNvSpPr txBox="1"/>
          <p:nvPr/>
        </p:nvSpPr>
        <p:spPr>
          <a:xfrm>
            <a:off x="20275529" y="9590453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Alignment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(Multi Teacher Fusion)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箭头: 下 114">
            <a:extLst>
              <a:ext uri="{FF2B5EF4-FFF2-40B4-BE49-F238E27FC236}">
                <a16:creationId xmlns:a16="http://schemas.microsoft.com/office/drawing/2014/main" id="{A5B3F284-8394-0704-44E8-13C9FDCA27CB}"/>
              </a:ext>
            </a:extLst>
          </p:cNvPr>
          <p:cNvSpPr/>
          <p:nvPr/>
        </p:nvSpPr>
        <p:spPr>
          <a:xfrm>
            <a:off x="20965770" y="8913273"/>
            <a:ext cx="213064" cy="336295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50B0DD56-D66A-3845-D492-9242B05C82F8}"/>
              </a:ext>
            </a:extLst>
          </p:cNvPr>
          <p:cNvCxnSpPr>
            <a:stCxn id="96" idx="4"/>
            <a:endCxn id="109" idx="1"/>
          </p:cNvCxnSpPr>
          <p:nvPr/>
        </p:nvCxnSpPr>
        <p:spPr>
          <a:xfrm>
            <a:off x="18721941" y="8318232"/>
            <a:ext cx="866355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2566795C-32D2-187B-3D92-0FD3A0B8E993}"/>
              </a:ext>
            </a:extLst>
          </p:cNvPr>
          <p:cNvCxnSpPr>
            <a:cxnSpLocks/>
          </p:cNvCxnSpPr>
          <p:nvPr/>
        </p:nvCxnSpPr>
        <p:spPr>
          <a:xfrm flipV="1">
            <a:off x="18808499" y="8317277"/>
            <a:ext cx="779797" cy="1546041"/>
          </a:xfrm>
          <a:prstGeom prst="bentConnector3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矩形 117">
            <a:extLst>
              <a:ext uri="{FF2B5EF4-FFF2-40B4-BE49-F238E27FC236}">
                <a16:creationId xmlns:a16="http://schemas.microsoft.com/office/drawing/2014/main" id="{D8D1F67E-B115-7F8E-ABD4-ACB952970675}"/>
              </a:ext>
            </a:extLst>
          </p:cNvPr>
          <p:cNvSpPr/>
          <p:nvPr/>
        </p:nvSpPr>
        <p:spPr>
          <a:xfrm>
            <a:off x="22952932" y="7478029"/>
            <a:ext cx="3298013" cy="3190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D424ED9A-CA4F-38B5-4FD0-C7C01B5FD69C}"/>
              </a:ext>
            </a:extLst>
          </p:cNvPr>
          <p:cNvSpPr/>
          <p:nvPr/>
        </p:nvSpPr>
        <p:spPr>
          <a:xfrm>
            <a:off x="23100068" y="7834642"/>
            <a:ext cx="2931071" cy="1020453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0" name="图形 119">
            <a:extLst>
              <a:ext uri="{FF2B5EF4-FFF2-40B4-BE49-F238E27FC236}">
                <a16:creationId xmlns:a16="http://schemas.microsoft.com/office/drawing/2014/main" id="{507A2A1B-B36A-074C-27D3-37CD3A0386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3100064" y="7876521"/>
            <a:ext cx="825624" cy="825624"/>
          </a:xfrm>
          <a:prstGeom prst="rect">
            <a:avLst/>
          </a:prstGeom>
        </p:spPr>
      </p:pic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908F1FEB-D3A4-6CE3-23A7-CFBEDBC52DC8}"/>
              </a:ext>
            </a:extLst>
          </p:cNvPr>
          <p:cNvSpPr/>
          <p:nvPr/>
        </p:nvSpPr>
        <p:spPr>
          <a:xfrm>
            <a:off x="23100068" y="9359546"/>
            <a:ext cx="2931071" cy="1020453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02B41915-F151-2A75-3474-B0A5A26364E3}"/>
              </a:ext>
            </a:extLst>
          </p:cNvPr>
          <p:cNvSpPr txBox="1"/>
          <p:nvPr/>
        </p:nvSpPr>
        <p:spPr>
          <a:xfrm>
            <a:off x="23784036" y="8074367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(Soft Lables / CE Loss)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3" name="图形 122">
            <a:extLst>
              <a:ext uri="{FF2B5EF4-FFF2-40B4-BE49-F238E27FC236}">
                <a16:creationId xmlns:a16="http://schemas.microsoft.com/office/drawing/2014/main" id="{2A91ED0C-DD4F-CE08-8802-43B346D3E9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151348" y="9470301"/>
            <a:ext cx="836143" cy="836143"/>
          </a:xfrm>
          <a:prstGeom prst="rect">
            <a:avLst/>
          </a:prstGeom>
        </p:spPr>
      </p:pic>
      <p:sp>
        <p:nvSpPr>
          <p:cNvPr id="124" name="文本框 123">
            <a:extLst>
              <a:ext uri="{FF2B5EF4-FFF2-40B4-BE49-F238E27FC236}">
                <a16:creationId xmlns:a16="http://schemas.microsoft.com/office/drawing/2014/main" id="{6C0FC45F-B16C-B8F5-E366-D227698166A9}"/>
              </a:ext>
            </a:extLst>
          </p:cNvPr>
          <p:cNvSpPr txBox="1"/>
          <p:nvPr/>
        </p:nvSpPr>
        <p:spPr>
          <a:xfrm>
            <a:off x="23691113" y="9601704"/>
            <a:ext cx="2336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Final Student Model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(Privacy-Preserving Train)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750415A3-F9F5-EA92-F79C-C84A874D0E91}"/>
              </a:ext>
            </a:extLst>
          </p:cNvPr>
          <p:cNvCxnSpPr>
            <a:cxnSpLocks/>
            <a:stCxn id="108" idx="3"/>
            <a:endCxn id="118" idx="1"/>
          </p:cNvCxnSpPr>
          <p:nvPr/>
        </p:nvCxnSpPr>
        <p:spPr>
          <a:xfrm>
            <a:off x="22688038" y="9073235"/>
            <a:ext cx="264890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箭头: 下 125">
            <a:extLst>
              <a:ext uri="{FF2B5EF4-FFF2-40B4-BE49-F238E27FC236}">
                <a16:creationId xmlns:a16="http://schemas.microsoft.com/office/drawing/2014/main" id="{0736156A-CC5C-D747-CCC2-DB2018AC9533}"/>
              </a:ext>
            </a:extLst>
          </p:cNvPr>
          <p:cNvSpPr/>
          <p:nvPr/>
        </p:nvSpPr>
        <p:spPr>
          <a:xfrm>
            <a:off x="24506521" y="8913273"/>
            <a:ext cx="213064" cy="336295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B680D3A3-8CA0-0717-0E92-3BE7632C011E}"/>
              </a:ext>
            </a:extLst>
          </p:cNvPr>
          <p:cNvSpPr txBox="1"/>
          <p:nvPr/>
        </p:nvSpPr>
        <p:spPr>
          <a:xfrm>
            <a:off x="16133972" y="7070761"/>
            <a:ext cx="221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1. Local Preparation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184470F9-11A9-A4D4-ACD5-2A4F18CF0FC7}"/>
              </a:ext>
            </a:extLst>
          </p:cNvPr>
          <p:cNvSpPr txBox="1"/>
          <p:nvPr/>
        </p:nvSpPr>
        <p:spPr>
          <a:xfrm>
            <a:off x="18848267" y="7082488"/>
            <a:ext cx="423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2. Secure Data Sharing</a:t>
            </a:r>
          </a:p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13164C7-9CDA-FB5D-4024-C508AA980C50}"/>
              </a:ext>
            </a:extLst>
          </p:cNvPr>
          <p:cNvSpPr txBox="1"/>
          <p:nvPr/>
        </p:nvSpPr>
        <p:spPr>
          <a:xfrm>
            <a:off x="23192040" y="7108697"/>
            <a:ext cx="262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3. Alignment &amp; Training 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92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FAFC0A-B4E3-3EEF-D3DC-330515D712E6}"/>
              </a:ext>
            </a:extLst>
          </p:cNvPr>
          <p:cNvSpPr/>
          <p:nvPr/>
        </p:nvSpPr>
        <p:spPr>
          <a:xfrm>
            <a:off x="15052278" y="9510198"/>
            <a:ext cx="11494294" cy="396454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085ACB-167E-4136-8171-08D5A6E843E6}"/>
              </a:ext>
            </a:extLst>
          </p:cNvPr>
          <p:cNvSpPr/>
          <p:nvPr/>
        </p:nvSpPr>
        <p:spPr>
          <a:xfrm>
            <a:off x="15378129" y="10028654"/>
            <a:ext cx="3666478" cy="31904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88D476E-42EF-4148-C2F6-CCB1C8A8DE9C}"/>
              </a:ext>
            </a:extLst>
          </p:cNvPr>
          <p:cNvSpPr/>
          <p:nvPr/>
        </p:nvSpPr>
        <p:spPr>
          <a:xfrm>
            <a:off x="15529049" y="10179578"/>
            <a:ext cx="1216240" cy="12843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D757EA50-B89B-25C1-3EE5-F585A2AE0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48586" y="10433151"/>
            <a:ext cx="777166" cy="77716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7D3E503-D53C-6952-27C5-CD59CED01476}"/>
              </a:ext>
            </a:extLst>
          </p:cNvPr>
          <p:cNvSpPr txBox="1"/>
          <p:nvPr/>
        </p:nvSpPr>
        <p:spPr>
          <a:xfrm>
            <a:off x="15612463" y="10161356"/>
            <a:ext cx="10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 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C58DDD-70D3-819B-CCF6-C4E0E0693995}"/>
              </a:ext>
            </a:extLst>
          </p:cNvPr>
          <p:cNvSpPr txBox="1"/>
          <p:nvPr/>
        </p:nvSpPr>
        <p:spPr>
          <a:xfrm>
            <a:off x="15587682" y="11156121"/>
            <a:ext cx="109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圆柱体 82">
            <a:extLst>
              <a:ext uri="{FF2B5EF4-FFF2-40B4-BE49-F238E27FC236}">
                <a16:creationId xmlns:a16="http://schemas.microsoft.com/office/drawing/2014/main" id="{4907593C-1A35-37B7-D219-5A1D99CB5FCD}"/>
              </a:ext>
            </a:extLst>
          </p:cNvPr>
          <p:cNvSpPr/>
          <p:nvPr/>
        </p:nvSpPr>
        <p:spPr>
          <a:xfrm>
            <a:off x="17475477" y="10427712"/>
            <a:ext cx="1216240" cy="882297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BE431DFD-98D6-B28E-285F-EB7053FDFB3E}"/>
              </a:ext>
            </a:extLst>
          </p:cNvPr>
          <p:cNvSpPr/>
          <p:nvPr/>
        </p:nvSpPr>
        <p:spPr>
          <a:xfrm>
            <a:off x="15529049" y="11800193"/>
            <a:ext cx="1216240" cy="12843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5" name="图形 84">
            <a:extLst>
              <a:ext uri="{FF2B5EF4-FFF2-40B4-BE49-F238E27FC236}">
                <a16:creationId xmlns:a16="http://schemas.microsoft.com/office/drawing/2014/main" id="{65B53F1D-7E56-B399-C703-909E4335A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48586" y="12053766"/>
            <a:ext cx="777166" cy="77716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88E9FCD-96E3-8B96-6B6F-E19D66652B68}"/>
              </a:ext>
            </a:extLst>
          </p:cNvPr>
          <p:cNvSpPr txBox="1"/>
          <p:nvPr/>
        </p:nvSpPr>
        <p:spPr>
          <a:xfrm>
            <a:off x="15646307" y="11781971"/>
            <a:ext cx="109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 B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27607DD-A424-BB50-1569-BCFBDC351AF7}"/>
              </a:ext>
            </a:extLst>
          </p:cNvPr>
          <p:cNvSpPr txBox="1"/>
          <p:nvPr/>
        </p:nvSpPr>
        <p:spPr>
          <a:xfrm>
            <a:off x="15587682" y="12776736"/>
            <a:ext cx="1098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71CE57C-B75B-EBB1-3391-2D363DAB9120}"/>
              </a:ext>
            </a:extLst>
          </p:cNvPr>
          <p:cNvSpPr txBox="1"/>
          <p:nvPr/>
        </p:nvSpPr>
        <p:spPr>
          <a:xfrm>
            <a:off x="17534110" y="10687097"/>
            <a:ext cx="1098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矩形: 圆顶角 88">
            <a:extLst>
              <a:ext uri="{FF2B5EF4-FFF2-40B4-BE49-F238E27FC236}">
                <a16:creationId xmlns:a16="http://schemas.microsoft.com/office/drawing/2014/main" id="{DE2C73DE-77E5-B111-07A0-62F2593620B2}"/>
              </a:ext>
            </a:extLst>
          </p:cNvPr>
          <p:cNvSpPr/>
          <p:nvPr/>
        </p:nvSpPr>
        <p:spPr>
          <a:xfrm>
            <a:off x="17388924" y="12089744"/>
            <a:ext cx="1389355" cy="68580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3AB6F34A-67BB-E42D-91FA-080839EA22BD}"/>
              </a:ext>
            </a:extLst>
          </p:cNvPr>
          <p:cNvSpPr txBox="1"/>
          <p:nvPr/>
        </p:nvSpPr>
        <p:spPr>
          <a:xfrm>
            <a:off x="17534110" y="12205725"/>
            <a:ext cx="1098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Teacher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2" name="连接符: 曲线 91">
            <a:extLst>
              <a:ext uri="{FF2B5EF4-FFF2-40B4-BE49-F238E27FC236}">
                <a16:creationId xmlns:a16="http://schemas.microsoft.com/office/drawing/2014/main" id="{6EE554CA-83DA-DB61-BD72-2BB923E94C2A}"/>
              </a:ext>
            </a:extLst>
          </p:cNvPr>
          <p:cNvCxnSpPr>
            <a:stCxn id="9" idx="3"/>
          </p:cNvCxnSpPr>
          <p:nvPr/>
        </p:nvCxnSpPr>
        <p:spPr>
          <a:xfrm flipV="1">
            <a:off x="16745289" y="10821738"/>
            <a:ext cx="730188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曲线 93">
            <a:extLst>
              <a:ext uri="{FF2B5EF4-FFF2-40B4-BE49-F238E27FC236}">
                <a16:creationId xmlns:a16="http://schemas.microsoft.com/office/drawing/2014/main" id="{E03CA44C-221E-D26C-A2B0-671604DE5E49}"/>
              </a:ext>
            </a:extLst>
          </p:cNvPr>
          <p:cNvCxnSpPr>
            <a:cxnSpLocks/>
            <a:endCxn id="89" idx="2"/>
          </p:cNvCxnSpPr>
          <p:nvPr/>
        </p:nvCxnSpPr>
        <p:spPr>
          <a:xfrm rot="16200000" flipH="1">
            <a:off x="16270766" y="11314485"/>
            <a:ext cx="1592685" cy="64363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635E8A49-0AE3-C1B8-591F-68371448FB0D}"/>
              </a:ext>
            </a:extLst>
          </p:cNvPr>
          <p:cNvCxnSpPr>
            <a:endCxn id="83" idx="2"/>
          </p:cNvCxnSpPr>
          <p:nvPr/>
        </p:nvCxnSpPr>
        <p:spPr>
          <a:xfrm rot="5400000" flipH="1" flipV="1">
            <a:off x="16323636" y="11290508"/>
            <a:ext cx="1573492" cy="7301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曲线 97">
            <a:extLst>
              <a:ext uri="{FF2B5EF4-FFF2-40B4-BE49-F238E27FC236}">
                <a16:creationId xmlns:a16="http://schemas.microsoft.com/office/drawing/2014/main" id="{121342FB-113A-15CA-F7DF-2C75630B482E}"/>
              </a:ext>
            </a:extLst>
          </p:cNvPr>
          <p:cNvCxnSpPr>
            <a:endCxn id="89" idx="2"/>
          </p:cNvCxnSpPr>
          <p:nvPr/>
        </p:nvCxnSpPr>
        <p:spPr>
          <a:xfrm>
            <a:off x="16745286" y="12432644"/>
            <a:ext cx="643634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188A5BFA-6E6A-F1B6-3F8E-83E62375185F}"/>
              </a:ext>
            </a:extLst>
          </p:cNvPr>
          <p:cNvSpPr/>
          <p:nvPr/>
        </p:nvSpPr>
        <p:spPr>
          <a:xfrm>
            <a:off x="19293185" y="10028654"/>
            <a:ext cx="3364637" cy="31904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A1945DA6-8FEA-D0E3-DFCD-5DDF93BA9E8F}"/>
              </a:ext>
            </a:extLst>
          </p:cNvPr>
          <p:cNvSpPr/>
          <p:nvPr/>
        </p:nvSpPr>
        <p:spPr>
          <a:xfrm>
            <a:off x="19558076" y="10376380"/>
            <a:ext cx="2931071" cy="1020453"/>
          </a:xfrm>
          <a:prstGeom prst="roundRect">
            <a:avLst/>
          </a:prstGeom>
          <a:solidFill>
            <a:srgbClr val="FFF2C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E8AAA80B-C1DC-4546-A13F-2CF96784A79E}"/>
              </a:ext>
            </a:extLst>
          </p:cNvPr>
          <p:cNvSpPr/>
          <p:nvPr/>
        </p:nvSpPr>
        <p:spPr>
          <a:xfrm>
            <a:off x="19558076" y="11876156"/>
            <a:ext cx="2931071" cy="1020453"/>
          </a:xfrm>
          <a:prstGeom prst="roundRect">
            <a:avLst/>
          </a:prstGeom>
          <a:solidFill>
            <a:srgbClr val="FFF2C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" name="图形 102">
            <a:extLst>
              <a:ext uri="{FF2B5EF4-FFF2-40B4-BE49-F238E27FC236}">
                <a16:creationId xmlns:a16="http://schemas.microsoft.com/office/drawing/2014/main" id="{319BE6D6-1B05-E926-AD04-0897EA6A1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00333" y="10454346"/>
            <a:ext cx="830965" cy="830965"/>
          </a:xfrm>
          <a:prstGeom prst="rect">
            <a:avLst/>
          </a:prstGeom>
        </p:spPr>
      </p:pic>
      <p:sp>
        <p:nvSpPr>
          <p:cNvPr id="104" name="文本框 103">
            <a:extLst>
              <a:ext uri="{FF2B5EF4-FFF2-40B4-BE49-F238E27FC236}">
                <a16:creationId xmlns:a16="http://schemas.microsoft.com/office/drawing/2014/main" id="{0B050EF8-F6EC-5279-6CD4-5C4BB621A61B}"/>
              </a:ext>
            </a:extLst>
          </p:cNvPr>
          <p:cNvSpPr txBox="1"/>
          <p:nvPr/>
        </p:nvSpPr>
        <p:spPr>
          <a:xfrm>
            <a:off x="20192041" y="10633880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Secure Knowledge Sharing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(Secert Sharing / MPC)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6" name="图形 105">
            <a:extLst>
              <a:ext uri="{FF2B5EF4-FFF2-40B4-BE49-F238E27FC236}">
                <a16:creationId xmlns:a16="http://schemas.microsoft.com/office/drawing/2014/main" id="{670ABE8C-04BD-64D9-70DD-76F73CF8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558072" y="11951597"/>
            <a:ext cx="830966" cy="830966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EA67E89D-96EA-0838-58CB-18D6CF1066CD}"/>
              </a:ext>
            </a:extLst>
          </p:cNvPr>
          <p:cNvSpPr txBox="1"/>
          <p:nvPr/>
        </p:nvSpPr>
        <p:spPr>
          <a:xfrm>
            <a:off x="20245309" y="12141078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Knowledge Alignment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(Multi Teacher Fusion)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箭头: 下 114">
            <a:extLst>
              <a:ext uri="{FF2B5EF4-FFF2-40B4-BE49-F238E27FC236}">
                <a16:creationId xmlns:a16="http://schemas.microsoft.com/office/drawing/2014/main" id="{8A1210DE-4C9D-2BAE-C0A5-548D7B6B045C}"/>
              </a:ext>
            </a:extLst>
          </p:cNvPr>
          <p:cNvSpPr/>
          <p:nvPr/>
        </p:nvSpPr>
        <p:spPr>
          <a:xfrm>
            <a:off x="20935550" y="11463898"/>
            <a:ext cx="213064" cy="336295"/>
          </a:xfrm>
          <a:prstGeom prst="down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A8022AF0-894B-5AFA-71D3-854858442A04}"/>
              </a:ext>
            </a:extLst>
          </p:cNvPr>
          <p:cNvCxnSpPr>
            <a:stCxn id="83" idx="4"/>
            <a:endCxn id="108" idx="1"/>
          </p:cNvCxnSpPr>
          <p:nvPr/>
        </p:nvCxnSpPr>
        <p:spPr>
          <a:xfrm>
            <a:off x="18691721" y="10868857"/>
            <a:ext cx="866355" cy="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连接符: 肘形 122">
            <a:extLst>
              <a:ext uri="{FF2B5EF4-FFF2-40B4-BE49-F238E27FC236}">
                <a16:creationId xmlns:a16="http://schemas.microsoft.com/office/drawing/2014/main" id="{515D4667-84B1-C13F-2D6F-39D62656E7E1}"/>
              </a:ext>
            </a:extLst>
          </p:cNvPr>
          <p:cNvCxnSpPr>
            <a:cxnSpLocks/>
          </p:cNvCxnSpPr>
          <p:nvPr/>
        </p:nvCxnSpPr>
        <p:spPr>
          <a:xfrm flipV="1">
            <a:off x="18778279" y="10867902"/>
            <a:ext cx="779797" cy="1546041"/>
          </a:xfrm>
          <a:prstGeom prst="bentConnector3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7BE41D9D-94E9-B0A9-4413-C67F6DBDEDEE}"/>
              </a:ext>
            </a:extLst>
          </p:cNvPr>
          <p:cNvSpPr/>
          <p:nvPr/>
        </p:nvSpPr>
        <p:spPr>
          <a:xfrm>
            <a:off x="22922712" y="10028654"/>
            <a:ext cx="3298013" cy="31904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: 圆角 130">
            <a:extLst>
              <a:ext uri="{FF2B5EF4-FFF2-40B4-BE49-F238E27FC236}">
                <a16:creationId xmlns:a16="http://schemas.microsoft.com/office/drawing/2014/main" id="{CA3402F1-EFBA-2114-B575-EAD771EC343C}"/>
              </a:ext>
            </a:extLst>
          </p:cNvPr>
          <p:cNvSpPr/>
          <p:nvPr/>
        </p:nvSpPr>
        <p:spPr>
          <a:xfrm>
            <a:off x="23069848" y="10385267"/>
            <a:ext cx="2931071" cy="1020453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7" name="图形 126">
            <a:extLst>
              <a:ext uri="{FF2B5EF4-FFF2-40B4-BE49-F238E27FC236}">
                <a16:creationId xmlns:a16="http://schemas.microsoft.com/office/drawing/2014/main" id="{49E7A948-3514-1783-C29F-306CC311E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069844" y="10427146"/>
            <a:ext cx="825624" cy="825624"/>
          </a:xfrm>
          <a:prstGeom prst="rect">
            <a:avLst/>
          </a:prstGeom>
        </p:spPr>
      </p:pic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7AA06D65-90D9-503E-581D-53C1D26646D8}"/>
              </a:ext>
            </a:extLst>
          </p:cNvPr>
          <p:cNvSpPr/>
          <p:nvPr/>
        </p:nvSpPr>
        <p:spPr>
          <a:xfrm>
            <a:off x="23069848" y="11910171"/>
            <a:ext cx="2931071" cy="1020453"/>
          </a:xfrm>
          <a:prstGeom prst="round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5B461B29-A200-45CD-5599-F59B13C28F8E}"/>
              </a:ext>
            </a:extLst>
          </p:cNvPr>
          <p:cNvSpPr txBox="1"/>
          <p:nvPr/>
        </p:nvSpPr>
        <p:spPr>
          <a:xfrm>
            <a:off x="23753816" y="10624992"/>
            <a:ext cx="2243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Knowledge Distillation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(Soft Lables / CE Loss)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图形 129">
            <a:extLst>
              <a:ext uri="{FF2B5EF4-FFF2-40B4-BE49-F238E27FC236}">
                <a16:creationId xmlns:a16="http://schemas.microsoft.com/office/drawing/2014/main" id="{3E40A10B-6653-17C0-B50C-8CC880F24A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121128" y="12020926"/>
            <a:ext cx="836143" cy="836143"/>
          </a:xfrm>
          <a:prstGeom prst="rect">
            <a:avLst/>
          </a:prstGeom>
        </p:spPr>
      </p:pic>
      <p:sp>
        <p:nvSpPr>
          <p:cNvPr id="133" name="文本框 132">
            <a:extLst>
              <a:ext uri="{FF2B5EF4-FFF2-40B4-BE49-F238E27FC236}">
                <a16:creationId xmlns:a16="http://schemas.microsoft.com/office/drawing/2014/main" id="{D1BD34A9-E2D4-0F57-0400-7569EE1FD1A5}"/>
              </a:ext>
            </a:extLst>
          </p:cNvPr>
          <p:cNvSpPr txBox="1"/>
          <p:nvPr/>
        </p:nvSpPr>
        <p:spPr>
          <a:xfrm>
            <a:off x="23660893" y="12152329"/>
            <a:ext cx="2336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Final Student Model</a:t>
            </a:r>
          </a:p>
          <a:p>
            <a:pPr algn="ctr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(Privacy-Preserving Train)</a:t>
            </a:r>
            <a:endParaRPr lang="zh-CN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78FB8778-76BB-5A48-36CD-D570563E9B5F}"/>
              </a:ext>
            </a:extLst>
          </p:cNvPr>
          <p:cNvCxnSpPr>
            <a:cxnSpLocks/>
            <a:stCxn id="101" idx="3"/>
            <a:endCxn id="125" idx="1"/>
          </p:cNvCxnSpPr>
          <p:nvPr/>
        </p:nvCxnSpPr>
        <p:spPr>
          <a:xfrm>
            <a:off x="22657818" y="11623860"/>
            <a:ext cx="264890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箭头: 下 138">
            <a:extLst>
              <a:ext uri="{FF2B5EF4-FFF2-40B4-BE49-F238E27FC236}">
                <a16:creationId xmlns:a16="http://schemas.microsoft.com/office/drawing/2014/main" id="{BD437902-1F3E-A55A-AC90-115F7D653FED}"/>
              </a:ext>
            </a:extLst>
          </p:cNvPr>
          <p:cNvSpPr/>
          <p:nvPr/>
        </p:nvSpPr>
        <p:spPr>
          <a:xfrm>
            <a:off x="24476301" y="11463898"/>
            <a:ext cx="213064" cy="336295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3220AE-BA28-988B-B348-DF74E9DEAF31}"/>
              </a:ext>
            </a:extLst>
          </p:cNvPr>
          <p:cNvSpPr txBox="1"/>
          <p:nvPr/>
        </p:nvSpPr>
        <p:spPr>
          <a:xfrm>
            <a:off x="16103752" y="9621386"/>
            <a:ext cx="221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1. Local Preparation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CBDC96-5C06-B68F-F1C6-82A90E17542A}"/>
              </a:ext>
            </a:extLst>
          </p:cNvPr>
          <p:cNvSpPr txBox="1"/>
          <p:nvPr/>
        </p:nvSpPr>
        <p:spPr>
          <a:xfrm>
            <a:off x="18818047" y="9633113"/>
            <a:ext cx="4235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2. Secure Data Sharing</a:t>
            </a:r>
          </a:p>
          <a:p>
            <a:pPr algn="ctr"/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B091AC-9904-DAE9-8A82-A66B07729D1D}"/>
              </a:ext>
            </a:extLst>
          </p:cNvPr>
          <p:cNvSpPr txBox="1"/>
          <p:nvPr/>
        </p:nvSpPr>
        <p:spPr>
          <a:xfrm>
            <a:off x="23161820" y="9659322"/>
            <a:ext cx="262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3. Alignment &amp; Training 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55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E4218BD0-44EB-7F0C-F18A-B5BF3000002A}"/>
              </a:ext>
            </a:extLst>
          </p:cNvPr>
          <p:cNvSpPr/>
          <p:nvPr/>
        </p:nvSpPr>
        <p:spPr>
          <a:xfrm>
            <a:off x="20252531" y="8847921"/>
            <a:ext cx="2527300" cy="3693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E5C54138-4480-4718-82B5-0836D4A1CCE5}"/>
              </a:ext>
            </a:extLst>
          </p:cNvPr>
          <p:cNvSpPr/>
          <p:nvPr/>
        </p:nvSpPr>
        <p:spPr>
          <a:xfrm>
            <a:off x="20252531" y="7958921"/>
            <a:ext cx="2527300" cy="3693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36D5E5BE-0B46-5356-17B5-46AB3AA94797}"/>
              </a:ext>
            </a:extLst>
          </p:cNvPr>
          <p:cNvSpPr/>
          <p:nvPr/>
        </p:nvSpPr>
        <p:spPr>
          <a:xfrm>
            <a:off x="20252531" y="7131856"/>
            <a:ext cx="2527300" cy="369332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FBDA905-DAD0-97F2-9ABF-17D9968DF346}"/>
              </a:ext>
            </a:extLst>
          </p:cNvPr>
          <p:cNvSpPr/>
          <p:nvPr/>
        </p:nvSpPr>
        <p:spPr>
          <a:xfrm>
            <a:off x="12492831" y="5568465"/>
            <a:ext cx="1955800" cy="369332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AB94305-16BB-BF20-4B2A-99DF934A899E}"/>
              </a:ext>
            </a:extLst>
          </p:cNvPr>
          <p:cNvSpPr/>
          <p:nvPr/>
        </p:nvSpPr>
        <p:spPr>
          <a:xfrm>
            <a:off x="12295981" y="4569301"/>
            <a:ext cx="2527300" cy="369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D7B9B9-8DD3-720D-F201-68D46AEF431F}"/>
              </a:ext>
            </a:extLst>
          </p:cNvPr>
          <p:cNvSpPr txBox="1"/>
          <p:nvPr/>
        </p:nvSpPr>
        <p:spPr>
          <a:xfrm>
            <a:off x="12499181" y="7476023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Local Samples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38754A-306B-C46F-CB19-0E88C2DD0DB7}"/>
              </a:ext>
            </a:extLst>
          </p:cNvPr>
          <p:cNvSpPr txBox="1"/>
          <p:nvPr/>
        </p:nvSpPr>
        <p:spPr>
          <a:xfrm>
            <a:off x="10187781" y="6765855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D6E327-69BD-9A39-47EB-AD4AB038F692}"/>
              </a:ext>
            </a:extLst>
          </p:cNvPr>
          <p:cNvSpPr txBox="1"/>
          <p:nvPr/>
        </p:nvSpPr>
        <p:spPr>
          <a:xfrm>
            <a:off x="15070931" y="6765855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E39854-1123-B402-A627-B72A21BD9585}"/>
              </a:ext>
            </a:extLst>
          </p:cNvPr>
          <p:cNvSpPr txBox="1"/>
          <p:nvPr/>
        </p:nvSpPr>
        <p:spPr>
          <a:xfrm>
            <a:off x="12435681" y="4579380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Local MPC Encryption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F70489-C448-2DC5-342F-C640B835B04F}"/>
              </a:ext>
            </a:extLst>
          </p:cNvPr>
          <p:cNvSpPr txBox="1"/>
          <p:nvPr/>
        </p:nvSpPr>
        <p:spPr>
          <a:xfrm>
            <a:off x="12765881" y="5571096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0E73AAD-D360-64E7-8D28-D5E5305E98F0}"/>
              </a:ext>
            </a:extLst>
          </p:cNvPr>
          <p:cNvSpPr txBox="1"/>
          <p:nvPr/>
        </p:nvSpPr>
        <p:spPr>
          <a:xfrm>
            <a:off x="20474781" y="712018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Secure Construction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233EA6-3F01-80A8-310A-BE23F796BC9B}"/>
              </a:ext>
            </a:extLst>
          </p:cNvPr>
          <p:cNvSpPr txBox="1"/>
          <p:nvPr/>
        </p:nvSpPr>
        <p:spPr>
          <a:xfrm>
            <a:off x="20303331" y="7974756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Knowledge Alignment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359874-97CD-3DEF-E26E-827D3125934D}"/>
              </a:ext>
            </a:extLst>
          </p:cNvPr>
          <p:cNvSpPr txBox="1"/>
          <p:nvPr/>
        </p:nvSpPr>
        <p:spPr>
          <a:xfrm>
            <a:off x="20458904" y="8897988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Student Distillaton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AB29E8-F53F-02DD-5028-CE76B8BDE84D}"/>
              </a:ext>
            </a:extLst>
          </p:cNvPr>
          <p:cNvSpPr txBox="1"/>
          <p:nvPr/>
        </p:nvSpPr>
        <p:spPr>
          <a:xfrm>
            <a:off x="20283876" y="11043368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Final Global Student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101D55-29D3-8BA7-E278-179D6B5FF958}"/>
              </a:ext>
            </a:extLst>
          </p:cNvPr>
          <p:cNvSpPr txBox="1"/>
          <p:nvPr/>
        </p:nvSpPr>
        <p:spPr>
          <a:xfrm>
            <a:off x="9959181" y="4119769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Client 1: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608716-FDAF-B23C-FAF7-1E7237088061}"/>
              </a:ext>
            </a:extLst>
          </p:cNvPr>
          <p:cNvSpPr/>
          <p:nvPr/>
        </p:nvSpPr>
        <p:spPr>
          <a:xfrm>
            <a:off x="10187781" y="3944690"/>
            <a:ext cx="6921500" cy="3991479"/>
          </a:xfrm>
          <a:prstGeom prst="rect">
            <a:avLst/>
          </a:prstGeom>
          <a:noFill/>
          <a:ln w="57150">
            <a:solidFill>
              <a:srgbClr val="DAE3F3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柱体 26">
            <a:extLst>
              <a:ext uri="{FF2B5EF4-FFF2-40B4-BE49-F238E27FC236}">
                <a16:creationId xmlns:a16="http://schemas.microsoft.com/office/drawing/2014/main" id="{04BB2E03-30DE-194B-1230-71DDA1DB4EF7}"/>
              </a:ext>
            </a:extLst>
          </p:cNvPr>
          <p:cNvSpPr/>
          <p:nvPr/>
        </p:nvSpPr>
        <p:spPr>
          <a:xfrm>
            <a:off x="10886281" y="6027193"/>
            <a:ext cx="558800" cy="657155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立方体 27">
            <a:extLst>
              <a:ext uri="{FF2B5EF4-FFF2-40B4-BE49-F238E27FC236}">
                <a16:creationId xmlns:a16="http://schemas.microsoft.com/office/drawing/2014/main" id="{B2EC18CA-B6B8-DCD8-7ABE-6B77CF6EB2AF}"/>
              </a:ext>
            </a:extLst>
          </p:cNvPr>
          <p:cNvSpPr/>
          <p:nvPr/>
        </p:nvSpPr>
        <p:spPr>
          <a:xfrm>
            <a:off x="15655131" y="6048831"/>
            <a:ext cx="673100" cy="657155"/>
          </a:xfrm>
          <a:prstGeom prst="cub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8A4D5FAD-D6B3-5679-2341-6224A7989093}"/>
              </a:ext>
            </a:extLst>
          </p:cNvPr>
          <p:cNvCxnSpPr>
            <a:stCxn id="4" idx="1"/>
            <a:endCxn id="7" idx="2"/>
          </p:cNvCxnSpPr>
          <p:nvPr/>
        </p:nvCxnSpPr>
        <p:spPr>
          <a:xfrm rot="10800000">
            <a:off x="11165681" y="7135187"/>
            <a:ext cx="1333500" cy="5255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3721C2C5-B35C-EDA5-D470-FE56A9239674}"/>
              </a:ext>
            </a:extLst>
          </p:cNvPr>
          <p:cNvCxnSpPr>
            <a:endCxn id="8" idx="2"/>
          </p:cNvCxnSpPr>
          <p:nvPr/>
        </p:nvCxnSpPr>
        <p:spPr>
          <a:xfrm flipV="1">
            <a:off x="14448631" y="7135187"/>
            <a:ext cx="1600200" cy="5255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12AF62AD-7EB8-3B3B-0D38-E32DAD9BB907}"/>
              </a:ext>
            </a:extLst>
          </p:cNvPr>
          <p:cNvCxnSpPr>
            <a:stCxn id="27" idx="1"/>
            <a:endCxn id="26" idx="1"/>
          </p:cNvCxnSpPr>
          <p:nvPr/>
        </p:nvCxnSpPr>
        <p:spPr>
          <a:xfrm rot="5400000" flipH="1" flipV="1">
            <a:off x="11692227" y="5226587"/>
            <a:ext cx="274061" cy="1327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3E57159F-6C2B-8311-E4A5-39A643E1B0A1}"/>
              </a:ext>
            </a:extLst>
          </p:cNvPr>
          <p:cNvCxnSpPr>
            <a:stCxn id="28" idx="0"/>
            <a:endCxn id="26" idx="3"/>
          </p:cNvCxnSpPr>
          <p:nvPr/>
        </p:nvCxnSpPr>
        <p:spPr>
          <a:xfrm rot="16200000" flipV="1">
            <a:off x="15113380" y="5088384"/>
            <a:ext cx="295699" cy="1625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164AC20-77D1-7C81-61F5-FB3D87BD43B3}"/>
              </a:ext>
            </a:extLst>
          </p:cNvPr>
          <p:cNvCxnSpPr>
            <a:stCxn id="10" idx="0"/>
          </p:cNvCxnSpPr>
          <p:nvPr/>
        </p:nvCxnSpPr>
        <p:spPr>
          <a:xfrm flipV="1">
            <a:off x="13470731" y="4964012"/>
            <a:ext cx="6350" cy="60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1F663EF-F644-5E50-28F4-9B1DFAF51AF0}"/>
              </a:ext>
            </a:extLst>
          </p:cNvPr>
          <p:cNvSpPr txBox="1"/>
          <p:nvPr/>
        </p:nvSpPr>
        <p:spPr>
          <a:xfrm>
            <a:off x="18385631" y="6465700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Server :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8DC6872-AEEF-95C7-9B1A-B2B0F8A6D9D7}"/>
              </a:ext>
            </a:extLst>
          </p:cNvPr>
          <p:cNvCxnSpPr>
            <a:stCxn id="11" idx="2"/>
            <a:endCxn id="45" idx="0"/>
          </p:cNvCxnSpPr>
          <p:nvPr/>
        </p:nvCxnSpPr>
        <p:spPr>
          <a:xfrm>
            <a:off x="21503481" y="7489521"/>
            <a:ext cx="12700" cy="469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3C150B6-35B7-5173-25AF-3917128AFF7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21516182" y="8344088"/>
            <a:ext cx="155573" cy="55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云形 52">
            <a:extLst>
              <a:ext uri="{FF2B5EF4-FFF2-40B4-BE49-F238E27FC236}">
                <a16:creationId xmlns:a16="http://schemas.microsoft.com/office/drawing/2014/main" id="{5D59D40F-17C3-4D77-333C-E622309EE723}"/>
              </a:ext>
            </a:extLst>
          </p:cNvPr>
          <p:cNvSpPr/>
          <p:nvPr/>
        </p:nvSpPr>
        <p:spPr>
          <a:xfrm>
            <a:off x="20696626" y="10355964"/>
            <a:ext cx="1612900" cy="687405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B8FC5D5-4A42-0553-AED8-31D1FC2CFE1D}"/>
              </a:ext>
            </a:extLst>
          </p:cNvPr>
          <p:cNvSpPr/>
          <p:nvPr/>
        </p:nvSpPr>
        <p:spPr>
          <a:xfrm>
            <a:off x="12492831" y="10446442"/>
            <a:ext cx="1955800" cy="369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5A2CF925-5966-3CB0-5DE8-11283622FB96}"/>
              </a:ext>
            </a:extLst>
          </p:cNvPr>
          <p:cNvSpPr/>
          <p:nvPr/>
        </p:nvSpPr>
        <p:spPr>
          <a:xfrm>
            <a:off x="12295981" y="9447278"/>
            <a:ext cx="2527300" cy="36933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D19960A-8D9A-FA17-9696-08DDF2012763}"/>
              </a:ext>
            </a:extLst>
          </p:cNvPr>
          <p:cNvSpPr txBox="1"/>
          <p:nvPr/>
        </p:nvSpPr>
        <p:spPr>
          <a:xfrm>
            <a:off x="12499181" y="12354000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Local Samples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8D853E3-2D63-9757-B2AB-39836AD9A54E}"/>
              </a:ext>
            </a:extLst>
          </p:cNvPr>
          <p:cNvSpPr txBox="1"/>
          <p:nvPr/>
        </p:nvSpPr>
        <p:spPr>
          <a:xfrm>
            <a:off x="10187781" y="11643832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7013A72-67F2-BE06-7E48-BD0516266484}"/>
              </a:ext>
            </a:extLst>
          </p:cNvPr>
          <p:cNvSpPr txBox="1"/>
          <p:nvPr/>
        </p:nvSpPr>
        <p:spPr>
          <a:xfrm>
            <a:off x="15070931" y="11643832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304E9E3-9D03-313A-8F9B-437BC70F29F4}"/>
              </a:ext>
            </a:extLst>
          </p:cNvPr>
          <p:cNvSpPr txBox="1"/>
          <p:nvPr/>
        </p:nvSpPr>
        <p:spPr>
          <a:xfrm>
            <a:off x="12435681" y="9457357"/>
            <a:ext cx="242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Local MPC Encryption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51212F1-9A95-5F9B-890D-B378860B1AC9}"/>
              </a:ext>
            </a:extLst>
          </p:cNvPr>
          <p:cNvSpPr txBox="1"/>
          <p:nvPr/>
        </p:nvSpPr>
        <p:spPr>
          <a:xfrm>
            <a:off x="12765881" y="10449073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E90651-7CAF-BDA5-A4BC-962078843F82}"/>
              </a:ext>
            </a:extLst>
          </p:cNvPr>
          <p:cNvSpPr txBox="1"/>
          <p:nvPr/>
        </p:nvSpPr>
        <p:spPr>
          <a:xfrm>
            <a:off x="9959181" y="8997746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Client 2: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8159205-B153-42B5-AC66-1B5ABA318AE5}"/>
              </a:ext>
            </a:extLst>
          </p:cNvPr>
          <p:cNvSpPr/>
          <p:nvPr/>
        </p:nvSpPr>
        <p:spPr>
          <a:xfrm>
            <a:off x="10187781" y="8822667"/>
            <a:ext cx="6921500" cy="3991479"/>
          </a:xfrm>
          <a:prstGeom prst="rect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圆柱体 62">
            <a:extLst>
              <a:ext uri="{FF2B5EF4-FFF2-40B4-BE49-F238E27FC236}">
                <a16:creationId xmlns:a16="http://schemas.microsoft.com/office/drawing/2014/main" id="{E5657D40-3CFB-04C1-B2F5-850DD0CBF057}"/>
              </a:ext>
            </a:extLst>
          </p:cNvPr>
          <p:cNvSpPr/>
          <p:nvPr/>
        </p:nvSpPr>
        <p:spPr>
          <a:xfrm>
            <a:off x="10886281" y="10905170"/>
            <a:ext cx="558800" cy="657155"/>
          </a:xfrm>
          <a:prstGeom prst="ca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立方体 63">
            <a:extLst>
              <a:ext uri="{FF2B5EF4-FFF2-40B4-BE49-F238E27FC236}">
                <a16:creationId xmlns:a16="http://schemas.microsoft.com/office/drawing/2014/main" id="{5893196B-0957-CC95-FB69-20756FFB2EF6}"/>
              </a:ext>
            </a:extLst>
          </p:cNvPr>
          <p:cNvSpPr/>
          <p:nvPr/>
        </p:nvSpPr>
        <p:spPr>
          <a:xfrm>
            <a:off x="15655131" y="10926808"/>
            <a:ext cx="673100" cy="657155"/>
          </a:xfrm>
          <a:prstGeom prst="cub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" name="连接符: 肘形 64">
            <a:extLst>
              <a:ext uri="{FF2B5EF4-FFF2-40B4-BE49-F238E27FC236}">
                <a16:creationId xmlns:a16="http://schemas.microsoft.com/office/drawing/2014/main" id="{7218713A-1721-9D03-A888-63924B301F11}"/>
              </a:ext>
            </a:extLst>
          </p:cNvPr>
          <p:cNvCxnSpPr>
            <a:stCxn id="56" idx="1"/>
            <a:endCxn id="57" idx="2"/>
          </p:cNvCxnSpPr>
          <p:nvPr/>
        </p:nvCxnSpPr>
        <p:spPr>
          <a:xfrm rot="10800000">
            <a:off x="11165681" y="12013164"/>
            <a:ext cx="1333500" cy="5255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689B12E4-DB6F-2959-306B-1B851F3D8353}"/>
              </a:ext>
            </a:extLst>
          </p:cNvPr>
          <p:cNvCxnSpPr>
            <a:endCxn id="58" idx="2"/>
          </p:cNvCxnSpPr>
          <p:nvPr/>
        </p:nvCxnSpPr>
        <p:spPr>
          <a:xfrm flipV="1">
            <a:off x="14448631" y="12013164"/>
            <a:ext cx="1600200" cy="5255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C6D8372F-FC00-4E4D-F1C6-A8EAE21CEA37}"/>
              </a:ext>
            </a:extLst>
          </p:cNvPr>
          <p:cNvCxnSpPr>
            <a:stCxn id="63" idx="1"/>
            <a:endCxn id="54" idx="1"/>
          </p:cNvCxnSpPr>
          <p:nvPr/>
        </p:nvCxnSpPr>
        <p:spPr>
          <a:xfrm rot="5400000" flipH="1" flipV="1">
            <a:off x="11692227" y="10104564"/>
            <a:ext cx="274061" cy="1327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8D341AB7-7BF9-62B2-BD75-DCE10ED7B814}"/>
              </a:ext>
            </a:extLst>
          </p:cNvPr>
          <p:cNvCxnSpPr>
            <a:stCxn id="64" idx="0"/>
            <a:endCxn id="54" idx="3"/>
          </p:cNvCxnSpPr>
          <p:nvPr/>
        </p:nvCxnSpPr>
        <p:spPr>
          <a:xfrm rot="16200000" flipV="1">
            <a:off x="15113380" y="9966361"/>
            <a:ext cx="295699" cy="16251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04B4DDD0-0D6B-3260-29D6-975BE867BF42}"/>
              </a:ext>
            </a:extLst>
          </p:cNvPr>
          <p:cNvCxnSpPr>
            <a:stCxn id="60" idx="0"/>
          </p:cNvCxnSpPr>
          <p:nvPr/>
        </p:nvCxnSpPr>
        <p:spPr>
          <a:xfrm flipV="1">
            <a:off x="13470731" y="9841989"/>
            <a:ext cx="6350" cy="60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>
            <a:extLst>
              <a:ext uri="{FF2B5EF4-FFF2-40B4-BE49-F238E27FC236}">
                <a16:creationId xmlns:a16="http://schemas.microsoft.com/office/drawing/2014/main" id="{39766694-2673-6401-77D6-D32B9CCCC3FF}"/>
              </a:ext>
            </a:extLst>
          </p:cNvPr>
          <p:cNvSpPr/>
          <p:nvPr/>
        </p:nvSpPr>
        <p:spPr>
          <a:xfrm>
            <a:off x="18725356" y="6383277"/>
            <a:ext cx="5454650" cy="3151288"/>
          </a:xfrm>
          <a:prstGeom prst="rect">
            <a:avLst/>
          </a:prstGeom>
          <a:noFill/>
          <a:ln w="571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F2DD9D79-F47A-9D93-4E45-475FB6E19C53}"/>
              </a:ext>
            </a:extLst>
          </p:cNvPr>
          <p:cNvCxnSpPr>
            <a:stCxn id="13" idx="2"/>
            <a:endCxn id="53" idx="3"/>
          </p:cNvCxnSpPr>
          <p:nvPr/>
        </p:nvCxnSpPr>
        <p:spPr>
          <a:xfrm flipH="1">
            <a:off x="21503076" y="9267320"/>
            <a:ext cx="168678" cy="1127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08449B15-03F3-5B45-47BE-0E23A6DC9551}"/>
              </a:ext>
            </a:extLst>
          </p:cNvPr>
          <p:cNvCxnSpPr>
            <a:stCxn id="9" idx="3"/>
            <a:endCxn id="70" idx="1"/>
          </p:cNvCxnSpPr>
          <p:nvPr/>
        </p:nvCxnSpPr>
        <p:spPr>
          <a:xfrm>
            <a:off x="14861382" y="4764047"/>
            <a:ext cx="3863975" cy="3194875"/>
          </a:xfrm>
          <a:prstGeom prst="bentConnector3">
            <a:avLst>
              <a:gd name="adj1" fmla="val 77609"/>
            </a:avLst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8B693D4-77AB-35FC-EA64-3F519115C3EB}"/>
              </a:ext>
            </a:extLst>
          </p:cNvPr>
          <p:cNvCxnSpPr>
            <a:cxnSpLocks/>
          </p:cNvCxnSpPr>
          <p:nvPr/>
        </p:nvCxnSpPr>
        <p:spPr>
          <a:xfrm flipV="1">
            <a:off x="14861381" y="7970282"/>
            <a:ext cx="3863975" cy="1683102"/>
          </a:xfrm>
          <a:prstGeom prst="bentConnector3">
            <a:avLst>
              <a:gd name="adj1" fmla="val 77938"/>
            </a:avLst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02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BC8EF19D-7FEA-B84D-5D02-E59E0A2F13C6}"/>
              </a:ext>
            </a:extLst>
          </p:cNvPr>
          <p:cNvGrpSpPr/>
          <p:nvPr/>
        </p:nvGrpSpPr>
        <p:grpSpPr>
          <a:xfrm>
            <a:off x="5726112" y="12413599"/>
            <a:ext cx="4051894" cy="1786439"/>
            <a:chOff x="5411070" y="12180430"/>
            <a:chExt cx="4051894" cy="1786439"/>
          </a:xfrm>
        </p:grpSpPr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2A3A1DEB-1065-ED7A-5F8D-3177909D1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0832" y="12979319"/>
              <a:ext cx="618218" cy="61821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4827C36-8CE3-F172-745D-F583AC881295}"/>
                </a:ext>
              </a:extLst>
            </p:cNvPr>
            <p:cNvSpPr txBox="1"/>
            <p:nvPr/>
          </p:nvSpPr>
          <p:spPr>
            <a:xfrm>
              <a:off x="5411070" y="13597537"/>
              <a:ext cx="1332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Images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8415F25-A589-7790-B60C-EB19E3EBD7BE}"/>
                </a:ext>
              </a:extLst>
            </p:cNvPr>
            <p:cNvSpPr txBox="1"/>
            <p:nvPr/>
          </p:nvSpPr>
          <p:spPr>
            <a:xfrm>
              <a:off x="8662745" y="1359753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Labels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0E2D922E-5E74-E281-8B39-2A7232BDC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51747" y="12947208"/>
              <a:ext cx="622216" cy="622216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1315567-ACB8-6556-8291-55FCA90110DC}"/>
                </a:ext>
              </a:extLst>
            </p:cNvPr>
            <p:cNvSpPr txBox="1"/>
            <p:nvPr/>
          </p:nvSpPr>
          <p:spPr>
            <a:xfrm>
              <a:off x="6784626" y="12180430"/>
              <a:ext cx="1614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Samples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左大括号 14">
              <a:extLst>
                <a:ext uri="{FF2B5EF4-FFF2-40B4-BE49-F238E27FC236}">
                  <a16:creationId xmlns:a16="http://schemas.microsoft.com/office/drawing/2014/main" id="{2ED37CB2-58B9-F448-80F3-27056C8C710C}"/>
                </a:ext>
              </a:extLst>
            </p:cNvPr>
            <p:cNvSpPr/>
            <p:nvPr/>
          </p:nvSpPr>
          <p:spPr>
            <a:xfrm rot="5400000">
              <a:off x="7375172" y="11251869"/>
              <a:ext cx="369333" cy="2965120"/>
            </a:xfrm>
            <a:prstGeom prst="leftBrace">
              <a:avLst>
                <a:gd name="adj1" fmla="val 0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B3D5F86E-1E05-A919-FE8F-4FB6BA970DBD}"/>
              </a:ext>
            </a:extLst>
          </p:cNvPr>
          <p:cNvGrpSpPr/>
          <p:nvPr/>
        </p:nvGrpSpPr>
        <p:grpSpPr>
          <a:xfrm>
            <a:off x="4404167" y="10453195"/>
            <a:ext cx="1883849" cy="1693700"/>
            <a:chOff x="3987700" y="10470944"/>
            <a:chExt cx="1883849" cy="1693700"/>
          </a:xfrm>
        </p:grpSpPr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5A3A0B5E-D332-3494-1461-A20E7EC86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22992" y="10470944"/>
              <a:ext cx="1413267" cy="1413267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8673DDA-1071-A483-861F-0B4F3D30FD6C}"/>
                </a:ext>
              </a:extLst>
            </p:cNvPr>
            <p:cNvSpPr txBox="1"/>
            <p:nvPr/>
          </p:nvSpPr>
          <p:spPr>
            <a:xfrm>
              <a:off x="3987700" y="11795312"/>
              <a:ext cx="1883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Distilled Samples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0902EDA-E872-D794-1E4A-60B77AAD0C20}"/>
              </a:ext>
            </a:extLst>
          </p:cNvPr>
          <p:cNvGrpSpPr/>
          <p:nvPr/>
        </p:nvGrpSpPr>
        <p:grpSpPr>
          <a:xfrm>
            <a:off x="9760493" y="10439789"/>
            <a:ext cx="1653338" cy="1646494"/>
            <a:chOff x="10111967" y="10048813"/>
            <a:chExt cx="1653338" cy="1646494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13A4C86-8435-A24E-95E1-3B40C4FE91FA}"/>
                </a:ext>
              </a:extLst>
            </p:cNvPr>
            <p:cNvSpPr txBox="1"/>
            <p:nvPr/>
          </p:nvSpPr>
          <p:spPr>
            <a:xfrm>
              <a:off x="10111967" y="11325975"/>
              <a:ext cx="1653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 Model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C5FDAFBA-12E4-82B9-DDAB-F95A06980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52932" y="10048813"/>
              <a:ext cx="1171409" cy="1277161"/>
            </a:xfrm>
            <a:prstGeom prst="rect">
              <a:avLst/>
            </a:prstGeom>
          </p:spPr>
        </p:pic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B91F514-13AB-B28B-D295-D7ED37674CEF}"/>
              </a:ext>
            </a:extLst>
          </p:cNvPr>
          <p:cNvGrpSpPr/>
          <p:nvPr/>
        </p:nvGrpSpPr>
        <p:grpSpPr>
          <a:xfrm>
            <a:off x="6395136" y="9885557"/>
            <a:ext cx="3133065" cy="479655"/>
            <a:chOff x="6744665" y="9554054"/>
            <a:chExt cx="3133065" cy="479655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0A016DBE-AB6A-BFD6-D05C-8718755F0388}"/>
                </a:ext>
              </a:extLst>
            </p:cNvPr>
            <p:cNvSpPr/>
            <p:nvPr/>
          </p:nvSpPr>
          <p:spPr>
            <a:xfrm>
              <a:off x="6744665" y="9554054"/>
              <a:ext cx="3133065" cy="479655"/>
            </a:xfrm>
            <a:prstGeom prst="roundRect">
              <a:avLst/>
            </a:prstGeom>
            <a:solidFill>
              <a:srgbClr val="B4C7E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C92AC17-4795-E029-3A8C-61B85CA0FB2E}"/>
                </a:ext>
              </a:extLst>
            </p:cNvPr>
            <p:cNvSpPr txBox="1"/>
            <p:nvPr/>
          </p:nvSpPr>
          <p:spPr>
            <a:xfrm>
              <a:off x="7332724" y="9609215"/>
              <a:ext cx="1956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 Inference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C282A45-09B4-125A-51C3-7320A248A0C0}"/>
              </a:ext>
            </a:extLst>
          </p:cNvPr>
          <p:cNvSpPr/>
          <p:nvPr/>
        </p:nvSpPr>
        <p:spPr>
          <a:xfrm>
            <a:off x="6414433" y="8529267"/>
            <a:ext cx="3133065" cy="479655"/>
          </a:xfrm>
          <a:prstGeom prst="roundRect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1A4277-AD98-D15C-515C-C316F5578722}"/>
              </a:ext>
            </a:extLst>
          </p:cNvPr>
          <p:cNvSpPr txBox="1"/>
          <p:nvPr/>
        </p:nvSpPr>
        <p:spPr>
          <a:xfrm>
            <a:off x="6758118" y="858442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Local MPC Encryption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DDF679F-1A07-CED7-CEAC-C40C5D806625}"/>
              </a:ext>
            </a:extLst>
          </p:cNvPr>
          <p:cNvSpPr txBox="1"/>
          <p:nvPr/>
        </p:nvSpPr>
        <p:spPr>
          <a:xfrm>
            <a:off x="4241804" y="6508587"/>
            <a:ext cx="50054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① Local teacher preparation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② Client-side protected knowledge generation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③ Secure reconstruction and knowledge alignment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④ Server-side student distillation</a:t>
            </a:r>
          </a:p>
        </p:txBody>
      </p: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24EA8162-C84D-A1CF-DF16-2E127D10AEE2}"/>
              </a:ext>
            </a:extLst>
          </p:cNvPr>
          <p:cNvCxnSpPr>
            <a:cxnSpLocks/>
            <a:stCxn id="14" idx="1"/>
            <a:endCxn id="16" idx="2"/>
          </p:cNvCxnSpPr>
          <p:nvPr/>
        </p:nvCxnSpPr>
        <p:spPr>
          <a:xfrm rot="10800000">
            <a:off x="5346092" y="12146895"/>
            <a:ext cx="1753576" cy="45137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FA7F39A1-539E-C09A-E0F3-CCA5081C03F8}"/>
              </a:ext>
            </a:extLst>
          </p:cNvPr>
          <p:cNvCxnSpPr>
            <a:cxnSpLocks/>
            <a:stCxn id="14" idx="3"/>
            <a:endCxn id="17" idx="2"/>
          </p:cNvCxnSpPr>
          <p:nvPr/>
        </p:nvCxnSpPr>
        <p:spPr>
          <a:xfrm flipV="1">
            <a:off x="8714213" y="12086283"/>
            <a:ext cx="1872949" cy="51198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B838F27F-343A-9B25-6CBF-BA13038B925B}"/>
              </a:ext>
            </a:extLst>
          </p:cNvPr>
          <p:cNvSpPr txBox="1"/>
          <p:nvPr/>
        </p:nvSpPr>
        <p:spPr>
          <a:xfrm>
            <a:off x="9320117" y="12617003"/>
            <a:ext cx="141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A19D0B5-AF60-A3AB-FE7A-5EF8E1113C38}"/>
              </a:ext>
            </a:extLst>
          </p:cNvPr>
          <p:cNvSpPr txBox="1"/>
          <p:nvPr/>
        </p:nvSpPr>
        <p:spPr>
          <a:xfrm>
            <a:off x="4864401" y="1262983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Data distillation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1D8BD53D-F99C-AD7E-8E51-EB9146E25BBE}"/>
              </a:ext>
            </a:extLst>
          </p:cNvPr>
          <p:cNvCxnSpPr>
            <a:stCxn id="11" idx="0"/>
            <a:endCxn id="26" idx="1"/>
          </p:cNvCxnSpPr>
          <p:nvPr/>
        </p:nvCxnSpPr>
        <p:spPr>
          <a:xfrm rot="5400000" flipH="1" flipV="1">
            <a:off x="5706709" y="9764769"/>
            <a:ext cx="327810" cy="104904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E00E30DF-7682-931A-CBD0-75D58794B5C6}"/>
              </a:ext>
            </a:extLst>
          </p:cNvPr>
          <p:cNvCxnSpPr>
            <a:stCxn id="21" idx="0"/>
            <a:endCxn id="26" idx="3"/>
          </p:cNvCxnSpPr>
          <p:nvPr/>
        </p:nvCxnSpPr>
        <p:spPr>
          <a:xfrm rot="16200000" flipV="1">
            <a:off x="9900480" y="9753106"/>
            <a:ext cx="314404" cy="1058962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箭头: 上 44">
            <a:extLst>
              <a:ext uri="{FF2B5EF4-FFF2-40B4-BE49-F238E27FC236}">
                <a16:creationId xmlns:a16="http://schemas.microsoft.com/office/drawing/2014/main" id="{2F03CFEB-CE20-F062-CA06-C84E558300DA}"/>
              </a:ext>
            </a:extLst>
          </p:cNvPr>
          <p:cNvSpPr/>
          <p:nvPr/>
        </p:nvSpPr>
        <p:spPr>
          <a:xfrm>
            <a:off x="7758389" y="9100284"/>
            <a:ext cx="546100" cy="677063"/>
          </a:xfrm>
          <a:prstGeom prst="upArrow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EAE849-AD56-1EB7-278A-C92D0AD19CA3}"/>
              </a:ext>
            </a:extLst>
          </p:cNvPr>
          <p:cNvSpPr txBox="1"/>
          <p:nvPr/>
        </p:nvSpPr>
        <p:spPr>
          <a:xfrm>
            <a:off x="8304489" y="9342729"/>
            <a:ext cx="1483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 logits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7BEC1EF-B59A-E040-422E-96304404C22D}"/>
              </a:ext>
            </a:extLst>
          </p:cNvPr>
          <p:cNvSpPr txBox="1"/>
          <p:nvPr/>
        </p:nvSpPr>
        <p:spPr>
          <a:xfrm>
            <a:off x="6165630" y="9315680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Distilled images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902511E-5B3B-9634-1311-CE50E94FD2FB}"/>
              </a:ext>
            </a:extLst>
          </p:cNvPr>
          <p:cNvSpPr txBox="1"/>
          <p:nvPr/>
        </p:nvSpPr>
        <p:spPr>
          <a:xfrm>
            <a:off x="4384913" y="8086183"/>
            <a:ext cx="121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Client 1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CBDFECD-0F86-63C2-50F4-BE91B635E8B8}"/>
              </a:ext>
            </a:extLst>
          </p:cNvPr>
          <p:cNvSpPr txBox="1"/>
          <p:nvPr/>
        </p:nvSpPr>
        <p:spPr>
          <a:xfrm>
            <a:off x="13883636" y="6231017"/>
            <a:ext cx="1055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9E49B1B6-600F-F658-2E7D-01D23798082B}"/>
              </a:ext>
            </a:extLst>
          </p:cNvPr>
          <p:cNvGrpSpPr/>
          <p:nvPr/>
        </p:nvGrpSpPr>
        <p:grpSpPr>
          <a:xfrm>
            <a:off x="13019975" y="6891610"/>
            <a:ext cx="2921000" cy="460694"/>
            <a:chOff x="14062241" y="8375185"/>
            <a:chExt cx="2921000" cy="460694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670397E-7358-E28D-FF3E-524BF9EEA3EE}"/>
                </a:ext>
              </a:extLst>
            </p:cNvPr>
            <p:cNvSpPr/>
            <p:nvPr/>
          </p:nvSpPr>
          <p:spPr>
            <a:xfrm>
              <a:off x="14062241" y="8375185"/>
              <a:ext cx="2921000" cy="46069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F8DD541-52C5-5075-8972-5E1F41A20AA4}"/>
                </a:ext>
              </a:extLst>
            </p:cNvPr>
            <p:cNvSpPr txBox="1"/>
            <p:nvPr/>
          </p:nvSpPr>
          <p:spPr>
            <a:xfrm>
              <a:off x="14187564" y="8413029"/>
              <a:ext cx="2732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Proteced Batch Reception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FC62CE0B-E5CC-B10D-0066-C0D4684A1F05}"/>
              </a:ext>
            </a:extLst>
          </p:cNvPr>
          <p:cNvGrpSpPr/>
          <p:nvPr/>
        </p:nvGrpSpPr>
        <p:grpSpPr>
          <a:xfrm>
            <a:off x="12994139" y="8075327"/>
            <a:ext cx="2921000" cy="460694"/>
            <a:chOff x="13774655" y="9344186"/>
            <a:chExt cx="2921000" cy="460694"/>
          </a:xfrm>
        </p:grpSpPr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62B111D5-901A-A418-259D-464DB5ECE6CB}"/>
                </a:ext>
              </a:extLst>
            </p:cNvPr>
            <p:cNvSpPr/>
            <p:nvPr/>
          </p:nvSpPr>
          <p:spPr>
            <a:xfrm>
              <a:off x="13774655" y="9344186"/>
              <a:ext cx="2921000" cy="46069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C727969A-5517-3ACE-3BC8-4E9CA02BD771}"/>
                </a:ext>
              </a:extLst>
            </p:cNvPr>
            <p:cNvSpPr txBox="1"/>
            <p:nvPr/>
          </p:nvSpPr>
          <p:spPr>
            <a:xfrm>
              <a:off x="13972700" y="9391944"/>
              <a:ext cx="24054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Secure Reconstruction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204F868B-1380-C9B7-7E9D-F756F671D53A}"/>
              </a:ext>
            </a:extLst>
          </p:cNvPr>
          <p:cNvGrpSpPr/>
          <p:nvPr/>
        </p:nvGrpSpPr>
        <p:grpSpPr>
          <a:xfrm>
            <a:off x="12994877" y="9192134"/>
            <a:ext cx="2921000" cy="460694"/>
            <a:chOff x="14049541" y="10694511"/>
            <a:chExt cx="2921000" cy="460694"/>
          </a:xfrm>
        </p:grpSpPr>
        <p:sp>
          <p:nvSpPr>
            <p:cNvPr id="57" name="矩形: 圆角 56">
              <a:extLst>
                <a:ext uri="{FF2B5EF4-FFF2-40B4-BE49-F238E27FC236}">
                  <a16:creationId xmlns:a16="http://schemas.microsoft.com/office/drawing/2014/main" id="{DA510520-E0DD-EAC0-98DF-3D2E8D84AD78}"/>
                </a:ext>
              </a:extLst>
            </p:cNvPr>
            <p:cNvSpPr/>
            <p:nvPr/>
          </p:nvSpPr>
          <p:spPr>
            <a:xfrm>
              <a:off x="14049541" y="10694511"/>
              <a:ext cx="2921000" cy="46069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A0E65BC-DD2C-B3D9-E463-54AA33629B64}"/>
                </a:ext>
              </a:extLst>
            </p:cNvPr>
            <p:cNvSpPr txBox="1"/>
            <p:nvPr/>
          </p:nvSpPr>
          <p:spPr>
            <a:xfrm>
              <a:off x="14324428" y="10740192"/>
              <a:ext cx="2371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Knowledge Alignment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789D8EA4-DB07-B43C-B830-2EF4105DE1EC}"/>
              </a:ext>
            </a:extLst>
          </p:cNvPr>
          <p:cNvGrpSpPr/>
          <p:nvPr/>
        </p:nvGrpSpPr>
        <p:grpSpPr>
          <a:xfrm>
            <a:off x="12994139" y="10327746"/>
            <a:ext cx="2921000" cy="460694"/>
            <a:chOff x="14050958" y="11284862"/>
            <a:chExt cx="2921000" cy="460694"/>
          </a:xfrm>
        </p:grpSpPr>
        <p:sp>
          <p:nvSpPr>
            <p:cNvPr id="58" name="矩形: 圆角 57">
              <a:extLst>
                <a:ext uri="{FF2B5EF4-FFF2-40B4-BE49-F238E27FC236}">
                  <a16:creationId xmlns:a16="http://schemas.microsoft.com/office/drawing/2014/main" id="{08DA71B6-A677-37A2-6F6D-D3D6B450A333}"/>
                </a:ext>
              </a:extLst>
            </p:cNvPr>
            <p:cNvSpPr/>
            <p:nvPr/>
          </p:nvSpPr>
          <p:spPr>
            <a:xfrm>
              <a:off x="14050958" y="11284862"/>
              <a:ext cx="2921000" cy="460694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16288BD-EC32-A122-D4C5-476D40AAF6F9}"/>
                </a:ext>
              </a:extLst>
            </p:cNvPr>
            <p:cNvSpPr txBox="1"/>
            <p:nvPr/>
          </p:nvSpPr>
          <p:spPr>
            <a:xfrm>
              <a:off x="14485760" y="11330543"/>
              <a:ext cx="21018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Distillation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72E551E9-3F7A-52F8-F4B1-F09E3BB64E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117546" y="7713815"/>
            <a:ext cx="707334" cy="1"/>
          </a:xfrm>
          <a:prstGeom prst="bentConnector3">
            <a:avLst/>
          </a:prstGeom>
          <a:ln w="28575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D9755625-FBEE-F130-1933-4E528A51EBE3}"/>
              </a:ext>
            </a:extLst>
          </p:cNvPr>
          <p:cNvSpPr txBox="1"/>
          <p:nvPr/>
        </p:nvSpPr>
        <p:spPr>
          <a:xfrm>
            <a:off x="14505705" y="7518226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Protected batches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62985478-636F-EC2E-8680-774916365052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14454639" y="8536021"/>
            <a:ext cx="738" cy="65611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06AC2377-A637-952A-E858-AA8156AE1688}"/>
              </a:ext>
            </a:extLst>
          </p:cNvPr>
          <p:cNvSpPr txBox="1"/>
          <p:nvPr/>
        </p:nvSpPr>
        <p:spPr>
          <a:xfrm>
            <a:off x="14479869" y="866117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Recon-logits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9945117-4DA7-B665-8375-DCB06B7C054C}"/>
              </a:ext>
            </a:extLst>
          </p:cNvPr>
          <p:cNvCxnSpPr>
            <a:cxnSpLocks/>
          </p:cNvCxnSpPr>
          <p:nvPr/>
        </p:nvCxnSpPr>
        <p:spPr>
          <a:xfrm>
            <a:off x="14454639" y="9662230"/>
            <a:ext cx="738" cy="656113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ACFFEB6B-9913-7AEF-857E-02736BD90801}"/>
              </a:ext>
            </a:extLst>
          </p:cNvPr>
          <p:cNvSpPr txBox="1"/>
          <p:nvPr/>
        </p:nvSpPr>
        <p:spPr>
          <a:xfrm>
            <a:off x="14505705" y="9709960"/>
            <a:ext cx="1332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Aligned soft</a:t>
            </a:r>
          </a:p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7D6F103E-1DBA-9B04-0EED-EF5C2031BB8A}"/>
              </a:ext>
            </a:extLst>
          </p:cNvPr>
          <p:cNvCxnSpPr>
            <a:stCxn id="56" idx="1"/>
            <a:endCxn id="58" idx="1"/>
          </p:cNvCxnSpPr>
          <p:nvPr/>
        </p:nvCxnSpPr>
        <p:spPr>
          <a:xfrm rot="10800000" flipV="1">
            <a:off x="12994139" y="8305673"/>
            <a:ext cx="12700" cy="2252419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6602B071-A0D2-8906-7AF6-5312E275D298}"/>
              </a:ext>
            </a:extLst>
          </p:cNvPr>
          <p:cNvSpPr txBox="1"/>
          <p:nvPr/>
        </p:nvSpPr>
        <p:spPr>
          <a:xfrm>
            <a:off x="12797999" y="9812374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Recon-samples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46E4380-5088-D544-9A90-795A222D5BAA}"/>
              </a:ext>
            </a:extLst>
          </p:cNvPr>
          <p:cNvSpPr txBox="1"/>
          <p:nvPr/>
        </p:nvSpPr>
        <p:spPr>
          <a:xfrm>
            <a:off x="13346545" y="13734897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Global Student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B7A24BB-D2CC-EFC0-D1B4-0DF4590CDBE5}"/>
              </a:ext>
            </a:extLst>
          </p:cNvPr>
          <p:cNvSpPr/>
          <p:nvPr/>
        </p:nvSpPr>
        <p:spPr>
          <a:xfrm>
            <a:off x="4241804" y="7936573"/>
            <a:ext cx="7450629" cy="6439827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B5727809-5F64-1345-ABBE-3EFFB0FD37F1}"/>
              </a:ext>
            </a:extLst>
          </p:cNvPr>
          <p:cNvGrpSpPr/>
          <p:nvPr/>
        </p:nvGrpSpPr>
        <p:grpSpPr>
          <a:xfrm>
            <a:off x="18558418" y="12544509"/>
            <a:ext cx="4051894" cy="1786439"/>
            <a:chOff x="5411070" y="12180430"/>
            <a:chExt cx="4051894" cy="1786439"/>
          </a:xfrm>
        </p:grpSpPr>
        <p:pic>
          <p:nvPicPr>
            <p:cNvPr id="176" name="图形 175">
              <a:extLst>
                <a:ext uri="{FF2B5EF4-FFF2-40B4-BE49-F238E27FC236}">
                  <a16:creationId xmlns:a16="http://schemas.microsoft.com/office/drawing/2014/main" id="{615E9B60-354D-C849-E1A4-F91D71D5E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750832" y="12979319"/>
              <a:ext cx="618218" cy="618218"/>
            </a:xfrm>
            <a:prstGeom prst="rect">
              <a:avLst/>
            </a:prstGeom>
          </p:spPr>
        </p:pic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A370A1BA-7290-6602-5778-B3E680D3D56F}"/>
                </a:ext>
              </a:extLst>
            </p:cNvPr>
            <p:cNvSpPr txBox="1"/>
            <p:nvPr/>
          </p:nvSpPr>
          <p:spPr>
            <a:xfrm>
              <a:off x="5411070" y="13597537"/>
              <a:ext cx="13324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Raw Images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B871A2D9-10E1-3E55-3A0F-76BFC24778F4}"/>
                </a:ext>
              </a:extLst>
            </p:cNvPr>
            <p:cNvSpPr txBox="1"/>
            <p:nvPr/>
          </p:nvSpPr>
          <p:spPr>
            <a:xfrm>
              <a:off x="8662745" y="1359753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Labels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9" name="图形 178">
              <a:extLst>
                <a:ext uri="{FF2B5EF4-FFF2-40B4-BE49-F238E27FC236}">
                  <a16:creationId xmlns:a16="http://schemas.microsoft.com/office/drawing/2014/main" id="{C09382A5-92AE-0AC5-01B3-8075B7EA7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8751747" y="12947208"/>
              <a:ext cx="622216" cy="622216"/>
            </a:xfrm>
            <a:prstGeom prst="rect">
              <a:avLst/>
            </a:prstGeom>
          </p:spPr>
        </p:pic>
        <p:sp>
          <p:nvSpPr>
            <p:cNvPr id="180" name="文本框 179">
              <a:extLst>
                <a:ext uri="{FF2B5EF4-FFF2-40B4-BE49-F238E27FC236}">
                  <a16:creationId xmlns:a16="http://schemas.microsoft.com/office/drawing/2014/main" id="{FD881699-E769-04AB-8266-3498176342AE}"/>
                </a:ext>
              </a:extLst>
            </p:cNvPr>
            <p:cNvSpPr txBox="1"/>
            <p:nvPr/>
          </p:nvSpPr>
          <p:spPr>
            <a:xfrm>
              <a:off x="6784626" y="12180430"/>
              <a:ext cx="16145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Samples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左大括号 180">
              <a:extLst>
                <a:ext uri="{FF2B5EF4-FFF2-40B4-BE49-F238E27FC236}">
                  <a16:creationId xmlns:a16="http://schemas.microsoft.com/office/drawing/2014/main" id="{22F7A4A3-8AFC-2240-AEEF-EC4C5FDA88E5}"/>
                </a:ext>
              </a:extLst>
            </p:cNvPr>
            <p:cNvSpPr/>
            <p:nvPr/>
          </p:nvSpPr>
          <p:spPr>
            <a:xfrm rot="5400000">
              <a:off x="7375172" y="11251869"/>
              <a:ext cx="369333" cy="2965120"/>
            </a:xfrm>
            <a:prstGeom prst="leftBrace">
              <a:avLst>
                <a:gd name="adj1" fmla="val 0"/>
                <a:gd name="adj2" fmla="val 50000"/>
              </a:avLst>
            </a:prstGeom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A991EB9C-0C76-0F84-75B4-1B9F493D5838}"/>
              </a:ext>
            </a:extLst>
          </p:cNvPr>
          <p:cNvGrpSpPr/>
          <p:nvPr/>
        </p:nvGrpSpPr>
        <p:grpSpPr>
          <a:xfrm>
            <a:off x="17236473" y="10584105"/>
            <a:ext cx="1883849" cy="1693700"/>
            <a:chOff x="3987700" y="10470944"/>
            <a:chExt cx="1883849" cy="1693700"/>
          </a:xfrm>
        </p:grpSpPr>
        <p:pic>
          <p:nvPicPr>
            <p:cNvPr id="183" name="图形 182">
              <a:extLst>
                <a:ext uri="{FF2B5EF4-FFF2-40B4-BE49-F238E27FC236}">
                  <a16:creationId xmlns:a16="http://schemas.microsoft.com/office/drawing/2014/main" id="{A2864BB0-2921-628C-AA81-5B9C8E617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4222992" y="10470944"/>
              <a:ext cx="1413267" cy="1413267"/>
            </a:xfrm>
            <a:prstGeom prst="rect">
              <a:avLst/>
            </a:prstGeom>
          </p:spPr>
        </p:pic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DBABA301-6A06-B449-6C61-6E57676FA789}"/>
                </a:ext>
              </a:extLst>
            </p:cNvPr>
            <p:cNvSpPr txBox="1"/>
            <p:nvPr/>
          </p:nvSpPr>
          <p:spPr>
            <a:xfrm>
              <a:off x="3987700" y="11795312"/>
              <a:ext cx="1883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Distilled Samples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6" name="文本框 185">
            <a:extLst>
              <a:ext uri="{FF2B5EF4-FFF2-40B4-BE49-F238E27FC236}">
                <a16:creationId xmlns:a16="http://schemas.microsoft.com/office/drawing/2014/main" id="{46CFC1F8-26F8-9BA5-A516-F1F2AD15820C}"/>
              </a:ext>
            </a:extLst>
          </p:cNvPr>
          <p:cNvSpPr txBox="1"/>
          <p:nvPr/>
        </p:nvSpPr>
        <p:spPr>
          <a:xfrm>
            <a:off x="22592799" y="11847861"/>
            <a:ext cx="1653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7" name="图片 186">
            <a:extLst>
              <a:ext uri="{FF2B5EF4-FFF2-40B4-BE49-F238E27FC236}">
                <a16:creationId xmlns:a16="http://schemas.microsoft.com/office/drawing/2014/main" id="{75E44FC6-680E-193E-16A4-6DB2B678F9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37650" y="10570699"/>
            <a:ext cx="1163636" cy="1277161"/>
          </a:xfrm>
          <a:prstGeom prst="rect">
            <a:avLst/>
          </a:prstGeom>
        </p:spPr>
      </p:pic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A059F5B8-FFAC-8F0A-9680-A41AED99F0E1}"/>
              </a:ext>
            </a:extLst>
          </p:cNvPr>
          <p:cNvGrpSpPr/>
          <p:nvPr/>
        </p:nvGrpSpPr>
        <p:grpSpPr>
          <a:xfrm>
            <a:off x="19227442" y="10016467"/>
            <a:ext cx="3133065" cy="479655"/>
            <a:chOff x="6744665" y="9554054"/>
            <a:chExt cx="3133065" cy="479655"/>
          </a:xfrm>
        </p:grpSpPr>
        <p:sp>
          <p:nvSpPr>
            <p:cNvPr id="189" name="矩形: 圆角 188">
              <a:extLst>
                <a:ext uri="{FF2B5EF4-FFF2-40B4-BE49-F238E27FC236}">
                  <a16:creationId xmlns:a16="http://schemas.microsoft.com/office/drawing/2014/main" id="{A4635FE6-0073-DDD9-F931-C7E2DC552F87}"/>
                </a:ext>
              </a:extLst>
            </p:cNvPr>
            <p:cNvSpPr/>
            <p:nvPr/>
          </p:nvSpPr>
          <p:spPr>
            <a:xfrm>
              <a:off x="6744665" y="9554054"/>
              <a:ext cx="3133065" cy="479655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5744C85A-85FE-4394-FB11-A3A9B5A8266F}"/>
                </a:ext>
              </a:extLst>
            </p:cNvPr>
            <p:cNvSpPr txBox="1"/>
            <p:nvPr/>
          </p:nvSpPr>
          <p:spPr>
            <a:xfrm>
              <a:off x="7332724" y="9609215"/>
              <a:ext cx="19569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 Inference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3889CAD6-6899-E8B6-7593-446712E8B427}"/>
              </a:ext>
            </a:extLst>
          </p:cNvPr>
          <p:cNvSpPr/>
          <p:nvPr/>
        </p:nvSpPr>
        <p:spPr>
          <a:xfrm>
            <a:off x="19246739" y="8660177"/>
            <a:ext cx="3133065" cy="4796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3D1246FD-1571-F2F9-D8A9-F061CD7FA49E}"/>
              </a:ext>
            </a:extLst>
          </p:cNvPr>
          <p:cNvSpPr txBox="1"/>
          <p:nvPr/>
        </p:nvSpPr>
        <p:spPr>
          <a:xfrm>
            <a:off x="19590424" y="871533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Local MPC Encryption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连接符: 肘形 192">
            <a:extLst>
              <a:ext uri="{FF2B5EF4-FFF2-40B4-BE49-F238E27FC236}">
                <a16:creationId xmlns:a16="http://schemas.microsoft.com/office/drawing/2014/main" id="{D763C49F-FADB-C597-DCA5-9A1CE5F5608A}"/>
              </a:ext>
            </a:extLst>
          </p:cNvPr>
          <p:cNvCxnSpPr>
            <a:cxnSpLocks/>
            <a:stCxn id="180" idx="1"/>
            <a:endCxn id="184" idx="2"/>
          </p:cNvCxnSpPr>
          <p:nvPr/>
        </p:nvCxnSpPr>
        <p:spPr>
          <a:xfrm rot="10800000">
            <a:off x="18178398" y="12277805"/>
            <a:ext cx="1753576" cy="451370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连接符: 肘形 193">
            <a:extLst>
              <a:ext uri="{FF2B5EF4-FFF2-40B4-BE49-F238E27FC236}">
                <a16:creationId xmlns:a16="http://schemas.microsoft.com/office/drawing/2014/main" id="{CBA85C97-D851-776C-F4D2-3B3FD200BA19}"/>
              </a:ext>
            </a:extLst>
          </p:cNvPr>
          <p:cNvCxnSpPr>
            <a:cxnSpLocks/>
            <a:stCxn id="180" idx="3"/>
            <a:endCxn id="186" idx="2"/>
          </p:cNvCxnSpPr>
          <p:nvPr/>
        </p:nvCxnSpPr>
        <p:spPr>
          <a:xfrm flipV="1">
            <a:off x="21546519" y="12217193"/>
            <a:ext cx="1872949" cy="511982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文本框 194">
            <a:extLst>
              <a:ext uri="{FF2B5EF4-FFF2-40B4-BE49-F238E27FC236}">
                <a16:creationId xmlns:a16="http://schemas.microsoft.com/office/drawing/2014/main" id="{67D878E9-3E52-9F11-B63C-B223702EC303}"/>
              </a:ext>
            </a:extLst>
          </p:cNvPr>
          <p:cNvSpPr txBox="1"/>
          <p:nvPr/>
        </p:nvSpPr>
        <p:spPr>
          <a:xfrm>
            <a:off x="22152423" y="12747913"/>
            <a:ext cx="1414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59DC70D0-AFF9-F05F-B61D-CCA0FC406BFE}"/>
              </a:ext>
            </a:extLst>
          </p:cNvPr>
          <p:cNvSpPr txBox="1"/>
          <p:nvPr/>
        </p:nvSpPr>
        <p:spPr>
          <a:xfrm>
            <a:off x="17696707" y="12760748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Data distillation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7" name="连接符: 肘形 196">
            <a:extLst>
              <a:ext uri="{FF2B5EF4-FFF2-40B4-BE49-F238E27FC236}">
                <a16:creationId xmlns:a16="http://schemas.microsoft.com/office/drawing/2014/main" id="{D89A4420-1A91-7A4C-4EBA-A04C8D0DA664}"/>
              </a:ext>
            </a:extLst>
          </p:cNvPr>
          <p:cNvCxnSpPr>
            <a:cxnSpLocks/>
            <a:stCxn id="183" idx="0"/>
            <a:endCxn id="189" idx="1"/>
          </p:cNvCxnSpPr>
          <p:nvPr/>
        </p:nvCxnSpPr>
        <p:spPr>
          <a:xfrm rot="5400000" flipH="1" flipV="1">
            <a:off x="18539015" y="9895679"/>
            <a:ext cx="327810" cy="1049043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连接符: 肘形 197">
            <a:extLst>
              <a:ext uri="{FF2B5EF4-FFF2-40B4-BE49-F238E27FC236}">
                <a16:creationId xmlns:a16="http://schemas.microsoft.com/office/drawing/2014/main" id="{7EEB835B-A504-DFA2-335D-B0F05252821B}"/>
              </a:ext>
            </a:extLst>
          </p:cNvPr>
          <p:cNvCxnSpPr>
            <a:stCxn id="187" idx="0"/>
            <a:endCxn id="189" idx="3"/>
          </p:cNvCxnSpPr>
          <p:nvPr/>
        </p:nvCxnSpPr>
        <p:spPr>
          <a:xfrm rot="16200000" flipV="1">
            <a:off x="22732786" y="9884016"/>
            <a:ext cx="314404" cy="1058962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箭头: 上 198">
            <a:extLst>
              <a:ext uri="{FF2B5EF4-FFF2-40B4-BE49-F238E27FC236}">
                <a16:creationId xmlns:a16="http://schemas.microsoft.com/office/drawing/2014/main" id="{CC7C616C-F628-E466-E080-FE2A5A0E155F}"/>
              </a:ext>
            </a:extLst>
          </p:cNvPr>
          <p:cNvSpPr/>
          <p:nvPr/>
        </p:nvSpPr>
        <p:spPr>
          <a:xfrm>
            <a:off x="20590695" y="9231194"/>
            <a:ext cx="546100" cy="677063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12DDA1CA-06BA-3733-0CCB-D95462B175B2}"/>
              </a:ext>
            </a:extLst>
          </p:cNvPr>
          <p:cNvSpPr txBox="1"/>
          <p:nvPr/>
        </p:nvSpPr>
        <p:spPr>
          <a:xfrm>
            <a:off x="21136795" y="9473639"/>
            <a:ext cx="1483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Teacher logits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ADDFF987-E7DC-2D88-C4A0-DAEF89926D6B}"/>
              </a:ext>
            </a:extLst>
          </p:cNvPr>
          <p:cNvSpPr txBox="1"/>
          <p:nvPr/>
        </p:nvSpPr>
        <p:spPr>
          <a:xfrm>
            <a:off x="18997936" y="9446590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Distilled images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C31EA456-91AF-131B-8DC5-21C045853C1F}"/>
              </a:ext>
            </a:extLst>
          </p:cNvPr>
          <p:cNvSpPr txBox="1"/>
          <p:nvPr/>
        </p:nvSpPr>
        <p:spPr>
          <a:xfrm>
            <a:off x="23058585" y="8198512"/>
            <a:ext cx="1218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Client 2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0BD06510-46D2-15B1-EBC0-B2E72B0F983C}"/>
              </a:ext>
            </a:extLst>
          </p:cNvPr>
          <p:cNvSpPr/>
          <p:nvPr/>
        </p:nvSpPr>
        <p:spPr>
          <a:xfrm>
            <a:off x="17074110" y="8067483"/>
            <a:ext cx="7450629" cy="6439827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6DC3C36-7882-61CD-21E8-84556C074143}"/>
              </a:ext>
            </a:extLst>
          </p:cNvPr>
          <p:cNvSpPr/>
          <p:nvPr/>
        </p:nvSpPr>
        <p:spPr>
          <a:xfrm>
            <a:off x="12461175" y="6100992"/>
            <a:ext cx="3934154" cy="5228692"/>
          </a:xfrm>
          <a:prstGeom prst="rect">
            <a:avLst/>
          </a:prstGeom>
          <a:noFill/>
          <a:ln w="571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7" name="连接符: 肘形 206">
            <a:extLst>
              <a:ext uri="{FF2B5EF4-FFF2-40B4-BE49-F238E27FC236}">
                <a16:creationId xmlns:a16="http://schemas.microsoft.com/office/drawing/2014/main" id="{C8AE0474-108A-005E-10E2-A41896DBC2B6}"/>
              </a:ext>
            </a:extLst>
          </p:cNvPr>
          <p:cNvCxnSpPr>
            <a:stCxn id="27" idx="3"/>
            <a:endCxn id="55" idx="1"/>
          </p:cNvCxnSpPr>
          <p:nvPr/>
        </p:nvCxnSpPr>
        <p:spPr>
          <a:xfrm flipV="1">
            <a:off x="9547498" y="7121957"/>
            <a:ext cx="3472477" cy="1647138"/>
          </a:xfrm>
          <a:prstGeom prst="bentConnector3">
            <a:avLst>
              <a:gd name="adj1" fmla="val 45977"/>
            </a:avLst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连接符: 肘形 208">
            <a:extLst>
              <a:ext uri="{FF2B5EF4-FFF2-40B4-BE49-F238E27FC236}">
                <a16:creationId xmlns:a16="http://schemas.microsoft.com/office/drawing/2014/main" id="{CD1526E2-874B-6170-F3E2-99FE1B714220}"/>
              </a:ext>
            </a:extLst>
          </p:cNvPr>
          <p:cNvCxnSpPr>
            <a:stCxn id="191" idx="1"/>
            <a:endCxn id="55" idx="3"/>
          </p:cNvCxnSpPr>
          <p:nvPr/>
        </p:nvCxnSpPr>
        <p:spPr>
          <a:xfrm rot="10800000">
            <a:off x="15940975" y="7121957"/>
            <a:ext cx="3305764" cy="1778048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文本框 210">
            <a:extLst>
              <a:ext uri="{FF2B5EF4-FFF2-40B4-BE49-F238E27FC236}">
                <a16:creationId xmlns:a16="http://schemas.microsoft.com/office/drawing/2014/main" id="{39D99860-36C8-90A3-93BD-B99D7BAA279C}"/>
              </a:ext>
            </a:extLst>
          </p:cNvPr>
          <p:cNvSpPr txBox="1"/>
          <p:nvPr/>
        </p:nvSpPr>
        <p:spPr>
          <a:xfrm>
            <a:off x="10057682" y="672287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Protected knowledge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C2EB997-6C9E-FD42-12BD-F40A8FE46A05}"/>
              </a:ext>
            </a:extLst>
          </p:cNvPr>
          <p:cNvSpPr txBox="1"/>
          <p:nvPr/>
        </p:nvSpPr>
        <p:spPr>
          <a:xfrm>
            <a:off x="16616250" y="6722870"/>
            <a:ext cx="2127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Protected knowledge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7D43C2D2-80E2-5EE3-A638-7C82C465AE2C}"/>
              </a:ext>
            </a:extLst>
          </p:cNvPr>
          <p:cNvSpPr txBox="1"/>
          <p:nvPr/>
        </p:nvSpPr>
        <p:spPr>
          <a:xfrm>
            <a:off x="10027137" y="121576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zh-CN" altLang="en-US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529ED618-476F-8C40-354D-2379CC466BA1}"/>
              </a:ext>
            </a:extLst>
          </p:cNvPr>
          <p:cNvSpPr txBox="1"/>
          <p:nvPr/>
        </p:nvSpPr>
        <p:spPr>
          <a:xfrm>
            <a:off x="14019810" y="74922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zh-CN" altLang="en-US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470FE702-0F64-2065-738B-4A6CEAB2D3E7}"/>
              </a:ext>
            </a:extLst>
          </p:cNvPr>
          <p:cNvSpPr txBox="1"/>
          <p:nvPr/>
        </p:nvSpPr>
        <p:spPr>
          <a:xfrm>
            <a:off x="7382067" y="903923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zh-CN" altLang="en-US"/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710C967A-20C9-97E5-85C0-2303C6B9EC4A}"/>
              </a:ext>
            </a:extLst>
          </p:cNvPr>
          <p:cNvSpPr txBox="1"/>
          <p:nvPr/>
        </p:nvSpPr>
        <p:spPr>
          <a:xfrm>
            <a:off x="15957796" y="103734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zh-CN" altLang="en-US"/>
          </a:p>
        </p:txBody>
      </p:sp>
      <p:sp>
        <p:nvSpPr>
          <p:cNvPr id="219" name="箭头: 下 218">
            <a:extLst>
              <a:ext uri="{FF2B5EF4-FFF2-40B4-BE49-F238E27FC236}">
                <a16:creationId xmlns:a16="http://schemas.microsoft.com/office/drawing/2014/main" id="{D816E281-A61D-BC33-BD5E-51E4E5C12393}"/>
              </a:ext>
            </a:extLst>
          </p:cNvPr>
          <p:cNvSpPr/>
          <p:nvPr/>
        </p:nvSpPr>
        <p:spPr>
          <a:xfrm>
            <a:off x="14196125" y="10906551"/>
            <a:ext cx="550174" cy="1190900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3" name="图形 222">
            <a:extLst>
              <a:ext uri="{FF2B5EF4-FFF2-40B4-BE49-F238E27FC236}">
                <a16:creationId xmlns:a16="http://schemas.microsoft.com/office/drawing/2014/main" id="{C28D773B-8BD0-3351-4110-F32F536D5BC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97803" y="11961704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41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EDBF6-2902-7BF2-3AEE-B47117BF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: 圆角 232">
            <a:extLst>
              <a:ext uri="{FF2B5EF4-FFF2-40B4-BE49-F238E27FC236}">
                <a16:creationId xmlns:a16="http://schemas.microsoft.com/office/drawing/2014/main" id="{E36FD4CB-0236-22E2-8198-E549F2247F55}"/>
              </a:ext>
            </a:extLst>
          </p:cNvPr>
          <p:cNvSpPr/>
          <p:nvPr/>
        </p:nvSpPr>
        <p:spPr>
          <a:xfrm>
            <a:off x="24122243" y="10381888"/>
            <a:ext cx="3562408" cy="3846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27E0A4-4EAA-7BB3-6BED-87265A150B53}"/>
                  </a:ext>
                </a:extLst>
              </p:cNvPr>
              <p:cNvSpPr txBox="1"/>
              <p:nvPr/>
            </p:nvSpPr>
            <p:spPr>
              <a:xfrm>
                <a:off x="2231237" y="6732049"/>
                <a:ext cx="23582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b-NO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Private Data </a:t>
                </a:r>
                <a:r>
                  <a:rPr lang="nb-NO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nb-NO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nb-NO" altLang="zh-CN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altLang="zh-CN" sz="1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endParaRPr lang="zh-CN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B27E0A4-4EAA-7BB3-6BED-87265A150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237" y="6732049"/>
                <a:ext cx="2358210" cy="338554"/>
              </a:xfrm>
              <a:prstGeom prst="rect">
                <a:avLst/>
              </a:prstGeom>
              <a:blipFill>
                <a:blip r:embed="rId2"/>
                <a:stretch>
                  <a:fillRect l="-1292" t="-5357" r="-51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EDC374-8997-5816-5AA6-4C3D3C953002}"/>
              </a:ext>
            </a:extLst>
          </p:cNvPr>
          <p:cNvSpPr/>
          <p:nvPr/>
        </p:nvSpPr>
        <p:spPr>
          <a:xfrm>
            <a:off x="2213355" y="7209103"/>
            <a:ext cx="2898651" cy="7429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F28DB34-79BC-8608-CCD5-A1809CB1257E}"/>
              </a:ext>
            </a:extLst>
          </p:cNvPr>
          <p:cNvSpPr txBox="1"/>
          <p:nvPr/>
        </p:nvSpPr>
        <p:spPr>
          <a:xfrm>
            <a:off x="2732381" y="7257400"/>
            <a:ext cx="1752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eacher Training</a:t>
            </a:r>
          </a:p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trained on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03B20D-0118-39F1-C7B3-F81D1999B121}"/>
              </a:ext>
            </a:extLst>
          </p:cNvPr>
          <p:cNvSpPr/>
          <p:nvPr/>
        </p:nvSpPr>
        <p:spPr>
          <a:xfrm>
            <a:off x="2213355" y="8325671"/>
            <a:ext cx="2898651" cy="74292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18DF6ED-CC09-C309-AF05-A160D42C0F80}"/>
                  </a:ext>
                </a:extLst>
              </p:cNvPr>
              <p:cNvSpPr txBox="1"/>
              <p:nvPr/>
            </p:nvSpPr>
            <p:spPr>
              <a:xfrm>
                <a:off x="2657436" y="8390465"/>
                <a:ext cx="201048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Distilled Samples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Generated from </a:t>
                </a:r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18DF6ED-CC09-C309-AF05-A160D42C0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36" y="8390465"/>
                <a:ext cx="2010487" cy="646331"/>
              </a:xfrm>
              <a:prstGeom prst="rect">
                <a:avLst/>
              </a:prstGeom>
              <a:blipFill>
                <a:blip r:embed="rId3"/>
                <a:stretch>
                  <a:fillRect l="-2727" t="-4717" r="-17576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组合 96">
            <a:extLst>
              <a:ext uri="{FF2B5EF4-FFF2-40B4-BE49-F238E27FC236}">
                <a16:creationId xmlns:a16="http://schemas.microsoft.com/office/drawing/2014/main" id="{E2084D8E-1E47-2FA0-6FA3-59505840F9A4}"/>
              </a:ext>
            </a:extLst>
          </p:cNvPr>
          <p:cNvGrpSpPr/>
          <p:nvPr/>
        </p:nvGrpSpPr>
        <p:grpSpPr>
          <a:xfrm>
            <a:off x="3149612" y="9620720"/>
            <a:ext cx="4338345" cy="742926"/>
            <a:chOff x="2251455" y="9644199"/>
            <a:chExt cx="3133065" cy="74292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5FC36BBD-C0E3-DDB9-C9EB-5E1A34568F4B}"/>
                </a:ext>
              </a:extLst>
            </p:cNvPr>
            <p:cNvSpPr/>
            <p:nvPr/>
          </p:nvSpPr>
          <p:spPr>
            <a:xfrm>
              <a:off x="2251455" y="9644199"/>
              <a:ext cx="3133065" cy="74292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609B705-F67C-AF89-461A-4B8BA69CA124}"/>
                    </a:ext>
                  </a:extLst>
                </p:cNvPr>
                <p:cNvSpPr txBox="1"/>
                <p:nvPr/>
              </p:nvSpPr>
              <p:spPr>
                <a:xfrm>
                  <a:off x="2441157" y="9702577"/>
                  <a:ext cx="2810636" cy="6741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1800" b="1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MTT</a:t>
                  </a:r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-based Distilled Data Generation</a:t>
                  </a:r>
                  <a:endParaRPr lang="en-US" altLang="zh-CN" sz="18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𝑡𝑟𝑎𝑗</m:t>
                            </m:r>
                          </m:sub>
                        </m:sSub>
                        <m: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lit/>
                          </m:r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lit/>
                                  </m:rPr>
                                  <a:rPr lang="en-US" altLang="zh-CN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lit/>
                          </m:r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/|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altLang="zh-CN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  <m:r>
                                  <m:rPr>
                                    <m:lit/>
                                  </m:rPr>
                                  <a:rPr lang="en-US" altLang="zh-CN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|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US" altLang="zh-CN" sz="18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B609B705-F67C-AF89-461A-4B8BA69CA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1157" y="9702577"/>
                  <a:ext cx="2810636" cy="674159"/>
                </a:xfrm>
                <a:prstGeom prst="rect">
                  <a:avLst/>
                </a:prstGeom>
                <a:blipFill>
                  <a:blip r:embed="rId4"/>
                  <a:stretch>
                    <a:fillRect l="-1411" t="-5455" r="-1254"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44453D0-37CC-763E-9321-093E289CB20B}"/>
              </a:ext>
            </a:extLst>
          </p:cNvPr>
          <p:cNvGrpSpPr/>
          <p:nvPr/>
        </p:nvGrpSpPr>
        <p:grpSpPr>
          <a:xfrm>
            <a:off x="5764229" y="7770153"/>
            <a:ext cx="2195131" cy="742926"/>
            <a:chOff x="5906368" y="7903731"/>
            <a:chExt cx="2548307" cy="742926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0DF98364-15CF-8807-7E66-1C31D024CE72}"/>
                </a:ext>
              </a:extLst>
            </p:cNvPr>
            <p:cNvSpPr/>
            <p:nvPr/>
          </p:nvSpPr>
          <p:spPr>
            <a:xfrm>
              <a:off x="5906368" y="7903731"/>
              <a:ext cx="2548307" cy="74292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55ACB78-02E9-1A4A-B22E-6DE85009E99C}"/>
                    </a:ext>
                  </a:extLst>
                </p:cNvPr>
                <p:cNvSpPr txBox="1"/>
                <p:nvPr/>
              </p:nvSpPr>
              <p:spPr>
                <a:xfrm>
                  <a:off x="6178497" y="7963623"/>
                  <a:ext cx="2271800" cy="6819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Teacher Inference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= 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a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</m:t>
                                    </m:r>
                                  </m:e>
                                </m:acc>
                              </m:e>
                            </m:d>
                          </m:e>
                        </m:d>
                      </m:oMath>
                    </m:oMathPara>
                  </a14:m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C55ACB78-02E9-1A4A-B22E-6DE85009E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497" y="7963623"/>
                  <a:ext cx="2271800" cy="681982"/>
                </a:xfrm>
                <a:prstGeom prst="rect">
                  <a:avLst/>
                </a:prstGeom>
                <a:blipFill>
                  <a:blip r:embed="rId5"/>
                  <a:stretch>
                    <a:fillRect l="-2492" t="-4464" r="-280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2A5F3AD9-2024-3287-4F41-B89CF45A86AA}"/>
                  </a:ext>
                </a:extLst>
              </p:cNvPr>
              <p:cNvSpPr/>
              <p:nvPr/>
            </p:nvSpPr>
            <p:spPr>
              <a:xfrm>
                <a:off x="9642550" y="6925993"/>
                <a:ext cx="2887967" cy="742926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Fixed-Point Encoding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img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acc>
                        <m:accPr>
                          <m:chr m:val="̃"/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x</m:t>
                          </m:r>
                        </m:e>
                      </m:acc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z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l-GR" altLang="zh-CN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2A5F3AD9-2024-3287-4F41-B89CF45A8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550" y="6925993"/>
                <a:ext cx="2887967" cy="742926"/>
              </a:xfrm>
              <a:prstGeom prst="roundRect">
                <a:avLst/>
              </a:prstGeom>
              <a:blipFill>
                <a:blip r:embed="rId6"/>
                <a:stretch>
                  <a:fillRect b="-2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4C50D58A-9B1D-387C-9693-616A37A8BC02}"/>
                  </a:ext>
                </a:extLst>
              </p:cNvPr>
              <p:cNvSpPr/>
              <p:nvPr/>
            </p:nvSpPr>
            <p:spPr>
              <a:xfrm>
                <a:off x="9642550" y="8203637"/>
                <a:ext cx="2887968" cy="92525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Two–Share Additive Secret Sharing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Images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Logits</m:t>
                      </m:r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l-GR" altLang="zh-CN" sz="1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矩形: 圆角 38">
                <a:extLst>
                  <a:ext uri="{FF2B5EF4-FFF2-40B4-BE49-F238E27FC236}">
                    <a16:creationId xmlns:a16="http://schemas.microsoft.com/office/drawing/2014/main" id="{4C50D58A-9B1D-387C-9693-616A37A8B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550" y="8203637"/>
                <a:ext cx="2887968" cy="925258"/>
              </a:xfrm>
              <a:prstGeom prst="roundRect">
                <a:avLst/>
              </a:prstGeom>
              <a:blipFill>
                <a:blip r:embed="rId7"/>
                <a:stretch>
                  <a:fillRect t="-1948"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右大括号 64">
            <a:extLst>
              <a:ext uri="{FF2B5EF4-FFF2-40B4-BE49-F238E27FC236}">
                <a16:creationId xmlns:a16="http://schemas.microsoft.com/office/drawing/2014/main" id="{071970E1-2D69-6A9E-33C7-B851D1F47722}"/>
              </a:ext>
            </a:extLst>
          </p:cNvPr>
          <p:cNvSpPr/>
          <p:nvPr/>
        </p:nvSpPr>
        <p:spPr>
          <a:xfrm>
            <a:off x="5228600" y="7480300"/>
            <a:ext cx="327488" cy="1294151"/>
          </a:xfrm>
          <a:prstGeom prst="rightBrace">
            <a:avLst>
              <a:gd name="adj1" fmla="val 8333"/>
              <a:gd name="adj2" fmla="val 51003"/>
            </a:avLst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BC5C1A5A-3C49-82DE-0F35-EA15EDC0BA5D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>
            <a:off x="11086534" y="7668919"/>
            <a:ext cx="0" cy="5347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169A500A-083F-F901-77E8-ABC1005A0068}"/>
              </a:ext>
            </a:extLst>
          </p:cNvPr>
          <p:cNvCxnSpPr>
            <a:cxnSpLocks/>
          </p:cNvCxnSpPr>
          <p:nvPr/>
        </p:nvCxnSpPr>
        <p:spPr>
          <a:xfrm flipH="1">
            <a:off x="10157356" y="9136021"/>
            <a:ext cx="1" cy="55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图片 82">
            <a:extLst>
              <a:ext uri="{FF2B5EF4-FFF2-40B4-BE49-F238E27FC236}">
                <a16:creationId xmlns:a16="http://schemas.microsoft.com/office/drawing/2014/main" id="{B6518525-980E-468B-1EF9-8F6D231793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9965" y="9755746"/>
            <a:ext cx="794782" cy="395311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88426520-4D1B-3EF2-646E-902C339B3412}"/>
              </a:ext>
            </a:extLst>
          </p:cNvPr>
          <p:cNvSpPr txBox="1"/>
          <p:nvPr/>
        </p:nvSpPr>
        <p:spPr>
          <a:xfrm>
            <a:off x="9134716" y="10116061"/>
            <a:ext cx="1858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Protected samples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31943D4C-E56D-41C6-A1E6-06869BF6E01D}"/>
              </a:ext>
            </a:extLst>
          </p:cNvPr>
          <p:cNvSpPr txBox="1"/>
          <p:nvPr/>
        </p:nvSpPr>
        <p:spPr>
          <a:xfrm>
            <a:off x="10992917" y="10112172"/>
            <a:ext cx="1627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Protected logits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0B5A9B1-A98C-A23A-9BBE-0A7293BD8596}"/>
              </a:ext>
            </a:extLst>
          </p:cNvPr>
          <p:cNvSpPr/>
          <p:nvPr/>
        </p:nvSpPr>
        <p:spPr>
          <a:xfrm>
            <a:off x="2085974" y="5981700"/>
            <a:ext cx="10779125" cy="4522038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D3235538-498B-E40B-0464-A71785DB9E5A}"/>
              </a:ext>
            </a:extLst>
          </p:cNvPr>
          <p:cNvGrpSpPr/>
          <p:nvPr/>
        </p:nvGrpSpPr>
        <p:grpSpPr>
          <a:xfrm>
            <a:off x="8075953" y="7361695"/>
            <a:ext cx="1523852" cy="1685121"/>
            <a:chOff x="8075953" y="7361695"/>
            <a:chExt cx="1523852" cy="1685121"/>
          </a:xfrm>
        </p:grpSpPr>
        <p:sp>
          <p:nvSpPr>
            <p:cNvPr id="92" name="箭头: 右 91">
              <a:extLst>
                <a:ext uri="{FF2B5EF4-FFF2-40B4-BE49-F238E27FC236}">
                  <a16:creationId xmlns:a16="http://schemas.microsoft.com/office/drawing/2014/main" id="{17388B9D-7698-AA37-98A7-3B00C0D037C9}"/>
                </a:ext>
              </a:extLst>
            </p:cNvPr>
            <p:cNvSpPr/>
            <p:nvPr/>
          </p:nvSpPr>
          <p:spPr>
            <a:xfrm>
              <a:off x="8075953" y="7361695"/>
              <a:ext cx="1523852" cy="1685121"/>
            </a:xfrm>
            <a:prstGeom prst="rightArrow">
              <a:avLst>
                <a:gd name="adj1" fmla="val 42087"/>
                <a:gd name="adj2" fmla="val 39374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id="{3B5846E2-8B5E-4504-A38F-7BE29B47BDCA}"/>
                </a:ext>
              </a:extLst>
            </p:cNvPr>
            <p:cNvSpPr txBox="1"/>
            <p:nvPr/>
          </p:nvSpPr>
          <p:spPr>
            <a:xfrm>
              <a:off x="8099174" y="7942027"/>
              <a:ext cx="14285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Distilled samples</a:t>
              </a:r>
            </a:p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 logits</a:t>
              </a:r>
            </a:p>
          </p:txBody>
        </p:sp>
      </p:grpSp>
      <p:cxnSp>
        <p:nvCxnSpPr>
          <p:cNvPr id="112" name="连接符: 曲线 111">
            <a:extLst>
              <a:ext uri="{FF2B5EF4-FFF2-40B4-BE49-F238E27FC236}">
                <a16:creationId xmlns:a16="http://schemas.microsoft.com/office/drawing/2014/main" id="{BFBFAD24-556B-0AAF-3DC3-B21C7558C1E4}"/>
              </a:ext>
            </a:extLst>
          </p:cNvPr>
          <p:cNvCxnSpPr>
            <a:cxnSpLocks/>
            <a:stCxn id="20" idx="0"/>
            <a:endCxn id="18" idx="2"/>
          </p:cNvCxnSpPr>
          <p:nvPr/>
        </p:nvCxnSpPr>
        <p:spPr>
          <a:xfrm rot="16200000" flipV="1">
            <a:off x="4214672" y="8516607"/>
            <a:ext cx="552123" cy="1656104"/>
          </a:xfrm>
          <a:prstGeom prst="curvedConnector3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B62B7E6-95A1-1F4D-566A-F4484077D9CE}"/>
              </a:ext>
            </a:extLst>
          </p:cNvPr>
          <p:cNvSpPr txBox="1"/>
          <p:nvPr/>
        </p:nvSpPr>
        <p:spPr>
          <a:xfrm>
            <a:off x="2171919" y="6030978"/>
            <a:ext cx="2450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 Client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7" name="图形 126">
            <a:extLst>
              <a:ext uri="{FF2B5EF4-FFF2-40B4-BE49-F238E27FC236}">
                <a16:creationId xmlns:a16="http://schemas.microsoft.com/office/drawing/2014/main" id="{64724317-23C1-A7B2-B636-7C9617DC17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26017" y="9755799"/>
            <a:ext cx="405982" cy="405982"/>
          </a:xfrm>
          <a:prstGeom prst="rect">
            <a:avLst/>
          </a:prstGeom>
        </p:spPr>
      </p:pic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3C1C7637-DF85-9B16-EFFB-3DD3F76B96B0}"/>
              </a:ext>
            </a:extLst>
          </p:cNvPr>
          <p:cNvCxnSpPr>
            <a:cxnSpLocks/>
          </p:cNvCxnSpPr>
          <p:nvPr/>
        </p:nvCxnSpPr>
        <p:spPr>
          <a:xfrm flipH="1">
            <a:off x="11911907" y="9143421"/>
            <a:ext cx="1" cy="5521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7633C46A-AC97-D0C8-770F-AB36D67B5A1F}"/>
              </a:ext>
            </a:extLst>
          </p:cNvPr>
          <p:cNvSpPr/>
          <p:nvPr/>
        </p:nvSpPr>
        <p:spPr>
          <a:xfrm>
            <a:off x="13865430" y="8173107"/>
            <a:ext cx="3562408" cy="9696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DF69C727-6277-CDA1-E51C-294265B514B1}"/>
                  </a:ext>
                </a:extLst>
              </p:cNvPr>
              <p:cNvSpPr txBox="1"/>
              <p:nvPr/>
            </p:nvSpPr>
            <p:spPr>
              <a:xfrm>
                <a:off x="14441818" y="8223906"/>
                <a:ext cx="2409635" cy="905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Secure Reconstruction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raw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DF69C727-6277-CDA1-E51C-294265B51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1818" y="8223906"/>
                <a:ext cx="2409635" cy="905633"/>
              </a:xfrm>
              <a:prstGeom prst="rect">
                <a:avLst/>
              </a:prstGeom>
              <a:blipFill>
                <a:blip r:embed="rId11"/>
                <a:stretch>
                  <a:fillRect l="-1772" t="-3356" r="-20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2073F196-F991-40ED-2F8F-0CA6846D16CE}"/>
              </a:ext>
            </a:extLst>
          </p:cNvPr>
          <p:cNvSpPr/>
          <p:nvPr/>
        </p:nvSpPr>
        <p:spPr>
          <a:xfrm>
            <a:off x="18597628" y="6617128"/>
            <a:ext cx="4142517" cy="4311436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0418C6D-BEF9-8C12-F5CD-5C4FE67A7EBA}"/>
              </a:ext>
            </a:extLst>
          </p:cNvPr>
          <p:cNvSpPr txBox="1"/>
          <p:nvPr/>
        </p:nvSpPr>
        <p:spPr>
          <a:xfrm>
            <a:off x="19533441" y="6701271"/>
            <a:ext cx="237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 Alignment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80D75EA1-5CF5-77F9-D0AF-D9310AEDCCC8}"/>
              </a:ext>
            </a:extLst>
          </p:cNvPr>
          <p:cNvSpPr/>
          <p:nvPr/>
        </p:nvSpPr>
        <p:spPr>
          <a:xfrm>
            <a:off x="18937851" y="7263100"/>
            <a:ext cx="3562408" cy="9696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D91FF70-4F0F-6488-C3D4-CB80EBD71FFC}"/>
                  </a:ext>
                </a:extLst>
              </p:cNvPr>
              <p:cNvSpPr txBox="1"/>
              <p:nvPr/>
            </p:nvSpPr>
            <p:spPr>
              <a:xfrm>
                <a:off x="19217041" y="7301647"/>
                <a:ext cx="3004027" cy="8925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Statistical Normalization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raw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𝒔𝒓𝒄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𝒔𝒓𝒄</m:t>
                              </m:r>
                            </m:sub>
                          </m:sSub>
                        </m:den>
                      </m:f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6D91FF70-4F0F-6488-C3D4-CB80EBD71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7041" y="7301647"/>
                <a:ext cx="3004027" cy="892552"/>
              </a:xfrm>
              <a:prstGeom prst="rect">
                <a:avLst/>
              </a:prstGeom>
              <a:blipFill>
                <a:blip r:embed="rId12"/>
                <a:stretch>
                  <a:fillRect t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矩形: 圆角 143">
            <a:extLst>
              <a:ext uri="{FF2B5EF4-FFF2-40B4-BE49-F238E27FC236}">
                <a16:creationId xmlns:a16="http://schemas.microsoft.com/office/drawing/2014/main" id="{B42D720C-5DB8-B8A7-BD4B-3D6F4AF1E871}"/>
              </a:ext>
            </a:extLst>
          </p:cNvPr>
          <p:cNvSpPr/>
          <p:nvPr/>
        </p:nvSpPr>
        <p:spPr>
          <a:xfrm>
            <a:off x="18937851" y="8595969"/>
            <a:ext cx="3562408" cy="7111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C538CC13-901B-4AF3-0051-B856C7AF5C8E}"/>
                  </a:ext>
                </a:extLst>
              </p:cNvPr>
              <p:cNvSpPr txBox="1"/>
              <p:nvPr/>
            </p:nvSpPr>
            <p:spPr>
              <a:xfrm>
                <a:off x="19139616" y="8634516"/>
                <a:ext cx="3158878" cy="6726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Confidence-aware Shrinkage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𝒈</m:t>
                          </m:r>
                        </m:sub>
                      </m:sSub>
                    </m:oMath>
                  </m:oMathPara>
                </a14:m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C538CC13-901B-4AF3-0051-B856C7AF5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9616" y="8634516"/>
                <a:ext cx="3158878" cy="672620"/>
              </a:xfrm>
              <a:prstGeom prst="rect">
                <a:avLst/>
              </a:prstGeom>
              <a:blipFill>
                <a:blip r:embed="rId13"/>
                <a:stretch>
                  <a:fillRect l="-1158" t="-4505" b="-18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矩形: 圆角 145">
            <a:extLst>
              <a:ext uri="{FF2B5EF4-FFF2-40B4-BE49-F238E27FC236}">
                <a16:creationId xmlns:a16="http://schemas.microsoft.com/office/drawing/2014/main" id="{8B82A5E1-BFDF-D0E9-7FFE-EEAE05DA2760}"/>
              </a:ext>
            </a:extLst>
          </p:cNvPr>
          <p:cNvSpPr/>
          <p:nvPr/>
        </p:nvSpPr>
        <p:spPr>
          <a:xfrm>
            <a:off x="18937850" y="9636599"/>
            <a:ext cx="3562408" cy="10050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23377CDE-809E-A4BC-DFD9-0C5319824D5A}"/>
                  </a:ext>
                </a:extLst>
              </p:cNvPr>
              <p:cNvSpPr txBox="1"/>
              <p:nvPr/>
            </p:nvSpPr>
            <p:spPr>
              <a:xfrm>
                <a:off x="19139615" y="9718329"/>
                <a:ext cx="3236784" cy="9494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Label-conditioned Correction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boost the ground-truth class logit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0.5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sub>
                    </m:sSub>
                  </m:oMath>
                </a14:m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23377CDE-809E-A4BC-DFD9-0C5319824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9615" y="9718329"/>
                <a:ext cx="3236784" cy="949491"/>
              </a:xfrm>
              <a:prstGeom prst="rect">
                <a:avLst/>
              </a:prstGeom>
              <a:blipFill>
                <a:blip r:embed="rId14"/>
                <a:stretch>
                  <a:fillRect l="-1695" t="-3205" r="-565"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66A88621-043B-C308-43FE-900CEA1967BC}"/>
              </a:ext>
            </a:extLst>
          </p:cNvPr>
          <p:cNvSpPr/>
          <p:nvPr/>
        </p:nvSpPr>
        <p:spPr>
          <a:xfrm>
            <a:off x="23699663" y="6691412"/>
            <a:ext cx="4339127" cy="260586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EBCD39AF-7F32-DBDF-AE20-25539D0E3E02}"/>
              </a:ext>
            </a:extLst>
          </p:cNvPr>
          <p:cNvSpPr txBox="1"/>
          <p:nvPr/>
        </p:nvSpPr>
        <p:spPr>
          <a:xfrm>
            <a:off x="24894500" y="6732049"/>
            <a:ext cx="210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 Distillation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60497CB4-1A47-8381-60D4-B88B1F8B990E}"/>
              </a:ext>
            </a:extLst>
          </p:cNvPr>
          <p:cNvSpPr/>
          <p:nvPr/>
        </p:nvSpPr>
        <p:spPr>
          <a:xfrm>
            <a:off x="24164222" y="7275470"/>
            <a:ext cx="3562408" cy="4286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0D5F6777-09BB-CAD4-4D70-37668FB72932}"/>
              </a:ext>
            </a:extLst>
          </p:cNvPr>
          <p:cNvSpPr txBox="1"/>
          <p:nvPr/>
        </p:nvSpPr>
        <p:spPr>
          <a:xfrm>
            <a:off x="25003506" y="7334831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 Forward</a:t>
            </a:r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2717D2D1-F4A0-33BF-4C0D-713DDDC01F11}"/>
              </a:ext>
            </a:extLst>
          </p:cNvPr>
          <p:cNvSpPr/>
          <p:nvPr/>
        </p:nvSpPr>
        <p:spPr>
          <a:xfrm>
            <a:off x="24122243" y="8042121"/>
            <a:ext cx="3562408" cy="10166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47822CE-4E6B-F108-486C-093D189BFB83}"/>
                  </a:ext>
                </a:extLst>
              </p:cNvPr>
              <p:cNvSpPr txBox="1"/>
              <p:nvPr/>
            </p:nvSpPr>
            <p:spPr>
              <a:xfrm>
                <a:off x="24614324" y="8072478"/>
                <a:ext cx="266220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KD Loss + CE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KD</m:t>
                          </m:r>
                        </m:sub>
                      </m:sSub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 </m:t>
                      </m:r>
                      <m:r>
                        <m:rPr>
                          <m:sty m:val="p"/>
                        </m:rP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/>
                        <m:t>ℒ</m:t>
                      </m:r>
                      <m:r>
                        <a:rPr lang="en-US" altLang="zh-CN" i="1"/>
                        <m:t>=</m:t>
                      </m:r>
                      <m:r>
                        <a:rPr lang="en-US" altLang="zh-CN" i="1"/>
                        <m:t>𝛼</m:t>
                      </m:r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a:rPr lang="en-US" altLang="zh-CN" i="1"/>
                            <m:t>ℒ</m:t>
                          </m:r>
                        </m:e>
                        <m:sub>
                          <m:r>
                            <a:rPr lang="en-US" altLang="zh-CN" i="1"/>
                            <m:t>𝐾𝐷</m:t>
                          </m:r>
                        </m:sub>
                      </m:sSub>
                      <m:r>
                        <a:rPr lang="en-US" altLang="zh-CN" i="1"/>
                        <m:t>+(1−</m:t>
                      </m:r>
                      <m:r>
                        <a:rPr lang="en-US" altLang="zh-CN" i="1"/>
                        <m:t>𝛼</m:t>
                      </m:r>
                      <m:r>
                        <a:rPr lang="en-US" altLang="zh-CN" i="1"/>
                        <m:t>)</m:t>
                      </m:r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a:rPr lang="en-US" altLang="zh-CN" i="1"/>
                            <m:t>ℒ</m:t>
                          </m:r>
                        </m:e>
                        <m:sub>
                          <m:r>
                            <a:rPr lang="en-US" altLang="zh-CN" i="1"/>
                            <m:t>𝐶𝐸</m:t>
                          </m:r>
                        </m:sub>
                      </m:sSub>
                      <m:r>
                        <a:rPr lang="en-US" altLang="zh-CN" i="1"/>
                        <m:t>,</m:t>
                      </m:r>
                    </m:oMath>
                  </m:oMathPara>
                </a14:m>
                <a:endParaRPr lang="en-US" altLang="zh-CN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E47822CE-4E6B-F108-486C-093D189BF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4324" y="8072478"/>
                <a:ext cx="2662204" cy="923330"/>
              </a:xfrm>
              <a:prstGeom prst="rect">
                <a:avLst/>
              </a:prstGeom>
              <a:blipFill>
                <a:blip r:embed="rId15"/>
                <a:stretch>
                  <a:fillRect t="-3289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BB72992F-9BDB-824A-E6C4-18FC9940AB6C}"/>
              </a:ext>
            </a:extLst>
          </p:cNvPr>
          <p:cNvSpPr/>
          <p:nvPr/>
        </p:nvSpPr>
        <p:spPr>
          <a:xfrm>
            <a:off x="13882890" y="6773794"/>
            <a:ext cx="3562408" cy="9696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DEAB6DA-0597-78C5-38D6-AE722C8A7714}"/>
              </a:ext>
            </a:extLst>
          </p:cNvPr>
          <p:cNvSpPr txBox="1"/>
          <p:nvPr/>
        </p:nvSpPr>
        <p:spPr>
          <a:xfrm>
            <a:off x="14208089" y="6824593"/>
            <a:ext cx="2912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Proteceted Batch Reception</a:t>
            </a:r>
          </a:p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receive protected sample </a:t>
            </a:r>
          </a:p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and logit shares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41C7D609-5BFB-E557-501A-F0D0F5C96998}"/>
              </a:ext>
            </a:extLst>
          </p:cNvPr>
          <p:cNvSpPr/>
          <p:nvPr/>
        </p:nvSpPr>
        <p:spPr>
          <a:xfrm>
            <a:off x="13490348" y="5816600"/>
            <a:ext cx="14856052" cy="5327650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BE751D73-1763-4824-7380-D42F7CDD2A8A}"/>
              </a:ext>
            </a:extLst>
          </p:cNvPr>
          <p:cNvSpPr txBox="1"/>
          <p:nvPr/>
        </p:nvSpPr>
        <p:spPr>
          <a:xfrm>
            <a:off x="13600141" y="5974150"/>
            <a:ext cx="87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E401432A-D78B-B2C3-C3A4-CFFC7292E392}"/>
              </a:ext>
            </a:extLst>
          </p:cNvPr>
          <p:cNvSpPr/>
          <p:nvPr/>
        </p:nvSpPr>
        <p:spPr>
          <a:xfrm>
            <a:off x="13919464" y="9563563"/>
            <a:ext cx="3562408" cy="8367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Statistical Normalization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04393104-D1C3-40D7-9C9A-5D5E4A36A1ED}"/>
                  </a:ext>
                </a:extLst>
              </p:cNvPr>
              <p:cNvSpPr txBox="1"/>
              <p:nvPr/>
            </p:nvSpPr>
            <p:spPr>
              <a:xfrm>
                <a:off x="14310169" y="9658778"/>
                <a:ext cx="2634054" cy="672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Offline Statistical Fitting</a:t>
                </a:r>
              </a:p>
              <a:p>
                <a:pPr algn="ctr"/>
                <a:r>
                  <a:rPr lang="el-GR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l-G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src</m:t>
                        </m:r>
                      </m:sub>
                    </m:sSub>
                  </m:oMath>
                </a14:m>
                <a:r>
                  <a:rPr lang="el-GR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l-G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src</m:t>
                        </m:r>
                      </m:sub>
                    </m:sSub>
                  </m:oMath>
                </a14:m>
                <a:r>
                  <a:rPr lang="el-GR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l-G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l-GR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l-G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</m:sub>
                    </m:sSub>
                  </m:oMath>
                </a14:m>
                <a:r>
                  <a:rPr lang="el-GR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w </a:t>
                </a:r>
                <a:endPara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04393104-D1C3-40D7-9C9A-5D5E4A36A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169" y="9658778"/>
                <a:ext cx="2634054" cy="672492"/>
              </a:xfrm>
              <a:prstGeom prst="rect">
                <a:avLst/>
              </a:prstGeom>
              <a:blipFill>
                <a:blip r:embed="rId16"/>
                <a:stretch>
                  <a:fillRect l="-1848" t="-4505" r="-1617" b="-9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连接符: 肘形 167">
            <a:extLst>
              <a:ext uri="{FF2B5EF4-FFF2-40B4-BE49-F238E27FC236}">
                <a16:creationId xmlns:a16="http://schemas.microsoft.com/office/drawing/2014/main" id="{DAC2CCBA-1A7B-83A7-4629-F92765825F9D}"/>
              </a:ext>
            </a:extLst>
          </p:cNvPr>
          <p:cNvCxnSpPr>
            <a:stCxn id="130" idx="3"/>
            <a:endCxn id="148" idx="0"/>
          </p:cNvCxnSpPr>
          <p:nvPr/>
        </p:nvCxnSpPr>
        <p:spPr>
          <a:xfrm flipV="1">
            <a:off x="17427838" y="6691412"/>
            <a:ext cx="8441389" cy="1966518"/>
          </a:xfrm>
          <a:prstGeom prst="bentConnector4">
            <a:avLst>
              <a:gd name="adj1" fmla="val 6608"/>
              <a:gd name="adj2" fmla="val 111625"/>
            </a:avLst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358D0336-41EC-FE50-6399-9A46E67E0EF7}"/>
              </a:ext>
            </a:extLst>
          </p:cNvPr>
          <p:cNvCxnSpPr>
            <a:cxnSpLocks/>
            <a:stCxn id="158" idx="3"/>
          </p:cNvCxnSpPr>
          <p:nvPr/>
        </p:nvCxnSpPr>
        <p:spPr>
          <a:xfrm>
            <a:off x="17481872" y="9981945"/>
            <a:ext cx="111575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E7317584-1B17-5C0B-791D-A0FF31AF6581}"/>
              </a:ext>
            </a:extLst>
          </p:cNvPr>
          <p:cNvCxnSpPr>
            <a:cxnSpLocks/>
          </p:cNvCxnSpPr>
          <p:nvPr/>
        </p:nvCxnSpPr>
        <p:spPr>
          <a:xfrm>
            <a:off x="22740145" y="8141616"/>
            <a:ext cx="856455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E62CE396-08B1-D70B-C6A6-0BCA902937F3}"/>
              </a:ext>
            </a:extLst>
          </p:cNvPr>
          <p:cNvCxnSpPr>
            <a:cxnSpLocks/>
            <a:stCxn id="155" idx="2"/>
          </p:cNvCxnSpPr>
          <p:nvPr/>
        </p:nvCxnSpPr>
        <p:spPr>
          <a:xfrm>
            <a:off x="15664097" y="7747923"/>
            <a:ext cx="0" cy="42070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F214552D-2257-C3DD-AD52-1F70A6970F1C}"/>
              </a:ext>
            </a:extLst>
          </p:cNvPr>
          <p:cNvCxnSpPr>
            <a:cxnSpLocks/>
            <a:stCxn id="131" idx="2"/>
          </p:cNvCxnSpPr>
          <p:nvPr/>
        </p:nvCxnSpPr>
        <p:spPr>
          <a:xfrm>
            <a:off x="15646636" y="9129539"/>
            <a:ext cx="0" cy="442881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文本框 228">
            <a:extLst>
              <a:ext uri="{FF2B5EF4-FFF2-40B4-BE49-F238E27FC236}">
                <a16:creationId xmlns:a16="http://schemas.microsoft.com/office/drawing/2014/main" id="{B763D513-6BCA-2108-B849-2359BD49BA23}"/>
              </a:ext>
            </a:extLst>
          </p:cNvPr>
          <p:cNvSpPr txBox="1"/>
          <p:nvPr/>
        </p:nvSpPr>
        <p:spPr>
          <a:xfrm>
            <a:off x="24747023" y="1039719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Global Student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1" name="直接箭头连接符 230">
            <a:extLst>
              <a:ext uri="{FF2B5EF4-FFF2-40B4-BE49-F238E27FC236}">
                <a16:creationId xmlns:a16="http://schemas.microsoft.com/office/drawing/2014/main" id="{6FAC845F-F2C3-370F-42D8-C967AFCAFCB1}"/>
              </a:ext>
            </a:extLst>
          </p:cNvPr>
          <p:cNvCxnSpPr>
            <a:cxnSpLocks/>
            <a:stCxn id="148" idx="2"/>
            <a:endCxn id="229" idx="0"/>
          </p:cNvCxnSpPr>
          <p:nvPr/>
        </p:nvCxnSpPr>
        <p:spPr>
          <a:xfrm>
            <a:off x="25869227" y="9297277"/>
            <a:ext cx="2463" cy="109991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文本框 237">
            <a:extLst>
              <a:ext uri="{FF2B5EF4-FFF2-40B4-BE49-F238E27FC236}">
                <a16:creationId xmlns:a16="http://schemas.microsoft.com/office/drawing/2014/main" id="{8281F68E-2725-05CE-3207-1F772D1F0BC4}"/>
              </a:ext>
            </a:extLst>
          </p:cNvPr>
          <p:cNvSpPr txBox="1"/>
          <p:nvPr/>
        </p:nvSpPr>
        <p:spPr>
          <a:xfrm>
            <a:off x="25903447" y="9670464"/>
            <a:ext cx="1819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</a:t>
            </a: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24EF7FBB-BA8E-74C9-2030-751B81A98565}"/>
              </a:ext>
            </a:extLst>
          </p:cNvPr>
          <p:cNvSpPr txBox="1"/>
          <p:nvPr/>
        </p:nvSpPr>
        <p:spPr>
          <a:xfrm>
            <a:off x="20612539" y="6069239"/>
            <a:ext cx="1595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Recon-samples</a:t>
            </a: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ACF2061D-4B05-7995-BF37-D4D533A4E0FB}"/>
              </a:ext>
            </a:extLst>
          </p:cNvPr>
          <p:cNvSpPr txBox="1"/>
          <p:nvPr/>
        </p:nvSpPr>
        <p:spPr>
          <a:xfrm>
            <a:off x="15773938" y="916849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Recon-logits</a:t>
            </a: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44371D03-4701-22A6-0132-DA78025BF09E}"/>
              </a:ext>
            </a:extLst>
          </p:cNvPr>
          <p:cNvSpPr txBox="1"/>
          <p:nvPr/>
        </p:nvSpPr>
        <p:spPr>
          <a:xfrm>
            <a:off x="22767476" y="7687934"/>
            <a:ext cx="928459" cy="10849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Aligned</a:t>
            </a:r>
          </a:p>
          <a:p>
            <a:pPr algn="ctr"/>
            <a:endParaRPr lang="en-US" altLang="zh-CN" sz="10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Soft</a:t>
            </a:r>
          </a:p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</p:txBody>
      </p: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8377FBD-DDA6-8A70-112D-1AECABDD8694}"/>
              </a:ext>
            </a:extLst>
          </p:cNvPr>
          <p:cNvSpPr txBox="1"/>
          <p:nvPr/>
        </p:nvSpPr>
        <p:spPr>
          <a:xfrm>
            <a:off x="17560285" y="9636723"/>
            <a:ext cx="1018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CDA33F4F-199B-0F36-F897-D7EAD190FD0B}"/>
              </a:ext>
            </a:extLst>
          </p:cNvPr>
          <p:cNvSpPr txBox="1"/>
          <p:nvPr/>
        </p:nvSpPr>
        <p:spPr>
          <a:xfrm>
            <a:off x="17683637" y="99792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</a:p>
        </p:txBody>
      </p:sp>
    </p:spTree>
    <p:extLst>
      <p:ext uri="{BB962C8B-B14F-4D97-AF65-F5344CB8AC3E}">
        <p14:creationId xmlns:p14="http://schemas.microsoft.com/office/powerpoint/2010/main" val="1889802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0A5936-585E-1A22-C1A4-FE0F525416E5}"/>
              </a:ext>
            </a:extLst>
          </p:cNvPr>
          <p:cNvSpPr/>
          <p:nvPr/>
        </p:nvSpPr>
        <p:spPr>
          <a:xfrm>
            <a:off x="11568226" y="12298567"/>
            <a:ext cx="3897297" cy="357890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8C58B0-B292-19AF-51D5-2724702FFC7C}"/>
              </a:ext>
            </a:extLst>
          </p:cNvPr>
          <p:cNvSpPr txBox="1"/>
          <p:nvPr/>
        </p:nvSpPr>
        <p:spPr>
          <a:xfrm>
            <a:off x="12515916" y="12296454"/>
            <a:ext cx="186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lang="zh-CN" altLang="en-US" b="1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35CBB6-3656-C59D-D1C5-D54D0207F818}"/>
              </a:ext>
            </a:extLst>
          </p:cNvPr>
          <p:cNvSpPr txBox="1"/>
          <p:nvPr/>
        </p:nvSpPr>
        <p:spPr>
          <a:xfrm>
            <a:off x="12408641" y="12597712"/>
            <a:ext cx="221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Local Preparation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FB17D88-8F78-E106-5D2B-25A033E321E2}"/>
              </a:ext>
            </a:extLst>
          </p:cNvPr>
          <p:cNvSpPr/>
          <p:nvPr/>
        </p:nvSpPr>
        <p:spPr>
          <a:xfrm>
            <a:off x="12237752" y="14876836"/>
            <a:ext cx="1212538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  <a:b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D_A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70F6210-F647-A34B-DEF9-426940CBA470}"/>
              </a:ext>
            </a:extLst>
          </p:cNvPr>
          <p:cNvSpPr/>
          <p:nvPr/>
        </p:nvSpPr>
        <p:spPr>
          <a:xfrm>
            <a:off x="12252909" y="14191894"/>
            <a:ext cx="2621135" cy="4705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MTT Train Trajectory</a:t>
            </a: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L_traj = ||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θ̂-θ*||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²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||θ*||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² 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8372571-127A-C415-D58F-D080AA90E0C4}"/>
              </a:ext>
            </a:extLst>
          </p:cNvPr>
          <p:cNvSpPr/>
          <p:nvPr/>
        </p:nvSpPr>
        <p:spPr>
          <a:xfrm>
            <a:off x="16903700" y="12298567"/>
            <a:ext cx="3505950" cy="35789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accent4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99B996-2A33-9240-09A3-35C12692551B}"/>
              </a:ext>
            </a:extLst>
          </p:cNvPr>
          <p:cNvSpPr txBox="1"/>
          <p:nvPr/>
        </p:nvSpPr>
        <p:spPr>
          <a:xfrm>
            <a:off x="17668842" y="12337876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endParaRPr lang="zh-CN" altLang="en-US" b="1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B000C5-80C7-781A-A118-792CC2E979C3}"/>
              </a:ext>
            </a:extLst>
          </p:cNvPr>
          <p:cNvSpPr txBox="1"/>
          <p:nvPr/>
        </p:nvSpPr>
        <p:spPr>
          <a:xfrm>
            <a:off x="17528556" y="12644505"/>
            <a:ext cx="2326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MPC Encoding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1C647B61-30D7-5EA5-18E1-66FA8196AB81}"/>
                  </a:ext>
                </a:extLst>
              </p:cNvPr>
              <p:cNvSpPr/>
              <p:nvPr/>
            </p:nvSpPr>
            <p:spPr>
              <a:xfrm>
                <a:off x="17346112" y="13047683"/>
                <a:ext cx="2621135" cy="72797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Fixed-Point Encoding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l-GR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</m:acc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round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Z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× </m:t>
                      </m:r>
                      <m:sSup>
                        <m:sSup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16</m:t>
                          </m:r>
                        </m:sup>
                      </m:sSup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l-GR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1C647B61-30D7-5EA5-18E1-66FA8196AB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6112" y="13047683"/>
                <a:ext cx="2621135" cy="72797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0505579C-234D-221E-5720-66D07052493E}"/>
                  </a:ext>
                </a:extLst>
              </p:cNvPr>
              <p:cNvSpPr/>
              <p:nvPr/>
            </p:nvSpPr>
            <p:spPr>
              <a:xfrm>
                <a:off x="17381151" y="14020727"/>
                <a:ext cx="2621135" cy="64585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Additive Secret Sharing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Images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img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Logits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acc>
                            <m:accPr>
                              <m:chr m:val="̂"/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</m:acc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log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l-GR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矩形: 圆角 23">
                <a:extLst>
                  <a:ext uri="{FF2B5EF4-FFF2-40B4-BE49-F238E27FC236}">
                    <a16:creationId xmlns:a16="http://schemas.microsoft.com/office/drawing/2014/main" id="{0505579C-234D-221E-5720-66D0705249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1151" y="14020727"/>
                <a:ext cx="2621135" cy="645855"/>
              </a:xfrm>
              <a:prstGeom prst="roundRect">
                <a:avLst/>
              </a:prstGeom>
              <a:blipFill>
                <a:blip r:embed="rId3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326A293-455F-57F9-ED0E-801403040908}"/>
              </a:ext>
            </a:extLst>
          </p:cNvPr>
          <p:cNvCxnSpPr/>
          <p:nvPr/>
        </p:nvCxnSpPr>
        <p:spPr>
          <a:xfrm>
            <a:off x="18691714" y="13741807"/>
            <a:ext cx="0" cy="2818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99FDB06-50FA-8727-ED61-56E19D3D0B31}"/>
              </a:ext>
            </a:extLst>
          </p:cNvPr>
          <p:cNvCxnSpPr/>
          <p:nvPr/>
        </p:nvCxnSpPr>
        <p:spPr>
          <a:xfrm>
            <a:off x="18679771" y="14666582"/>
            <a:ext cx="0" cy="28186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0DEB7E4A-0F5D-B2A0-86DF-88C52E1D5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6144" y="14992306"/>
            <a:ext cx="1287261" cy="640261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DEC4B5B-661D-7189-B139-2AEB37B120AE}"/>
              </a:ext>
            </a:extLst>
          </p:cNvPr>
          <p:cNvCxnSpPr>
            <a:cxnSpLocks/>
          </p:cNvCxnSpPr>
          <p:nvPr/>
        </p:nvCxnSpPr>
        <p:spPr>
          <a:xfrm flipV="1">
            <a:off x="15509910" y="14075299"/>
            <a:ext cx="1349407" cy="1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0AE7F66-375B-10FF-AEAD-A6B09B2DE6CB}"/>
              </a:ext>
            </a:extLst>
          </p:cNvPr>
          <p:cNvSpPr txBox="1"/>
          <p:nvPr/>
        </p:nvSpPr>
        <p:spPr>
          <a:xfrm>
            <a:off x="15671981" y="13746007"/>
            <a:ext cx="105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Raw Logits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C40F630-FE67-28D5-470D-BEDBB7EE9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7057" y="14189996"/>
            <a:ext cx="722969" cy="354737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B04CCA7-3837-09CE-0B5E-B7DE01142F1C}"/>
              </a:ext>
            </a:extLst>
          </p:cNvPr>
          <p:cNvSpPr txBox="1"/>
          <p:nvPr/>
        </p:nvSpPr>
        <p:spPr>
          <a:xfrm>
            <a:off x="15658869" y="14530517"/>
            <a:ext cx="1051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Distilled Data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ED7938E-C16A-F4AC-14C6-0374475446E3}"/>
              </a:ext>
            </a:extLst>
          </p:cNvPr>
          <p:cNvSpPr/>
          <p:nvPr/>
        </p:nvSpPr>
        <p:spPr>
          <a:xfrm>
            <a:off x="21312848" y="12296457"/>
            <a:ext cx="3505950" cy="35789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6039F6D-15EE-D165-0DBF-FD4A9ED44F85}"/>
              </a:ext>
            </a:extLst>
          </p:cNvPr>
          <p:cNvSpPr txBox="1"/>
          <p:nvPr/>
        </p:nvSpPr>
        <p:spPr>
          <a:xfrm>
            <a:off x="22042948" y="12348808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endParaRPr lang="zh-CN" altLang="en-US" b="1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FE636BC-E546-A8E4-C984-A64F71F68B17}"/>
              </a:ext>
            </a:extLst>
          </p:cNvPr>
          <p:cNvSpPr txBox="1"/>
          <p:nvPr/>
        </p:nvSpPr>
        <p:spPr>
          <a:xfrm>
            <a:off x="21800108" y="12642394"/>
            <a:ext cx="2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Decrypt &amp; Knowledge Alignment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8506A1AA-D428-6904-2E2B-87F25A5ECF0B}"/>
                  </a:ext>
                </a:extLst>
              </p:cNvPr>
              <p:cNvSpPr/>
              <p:nvPr/>
            </p:nvSpPr>
            <p:spPr>
              <a:xfrm>
                <a:off x="21755258" y="13064077"/>
                <a:ext cx="2621135" cy="656302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Reconstruction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raw</m:t>
                          </m:r>
                        </m:sub>
                      </m:sSub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z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16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1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8506A1AA-D428-6904-2E2B-87F25A5EC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55258" y="13064077"/>
                <a:ext cx="2621135" cy="6563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656E9A2B-5613-0249-348E-D1CC596C7BBC}"/>
                  </a:ext>
                </a:extLst>
              </p:cNvPr>
              <p:cNvSpPr/>
              <p:nvPr/>
            </p:nvSpPr>
            <p:spPr>
              <a:xfrm>
                <a:off x="21695424" y="14008167"/>
                <a:ext cx="2746716" cy="656302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Knowledge Alignment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align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raw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src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src</m:t>
                              </m:r>
                            </m:sub>
                          </m:sSub>
                        </m:den>
                      </m:f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m:t></m:t>
                      </m:r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</m:ctrlPr>
                        </m:sSub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global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 2" panose="05020102010507070707" pitchFamily="18" charset="2"/>
                        </a:rPr>
                        <m:t>+</m:t>
                      </m:r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</m:ctrlPr>
                        </m:sSub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 2" panose="05020102010507070707" pitchFamily="18" charset="2"/>
                            </a:rPr>
                            <m:t>global</m:t>
                          </m:r>
                        </m:sub>
                      </m:sSub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656E9A2B-5613-0249-348E-D1CC596C7B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5424" y="14008167"/>
                <a:ext cx="2746716" cy="656302"/>
              </a:xfrm>
              <a:prstGeom prst="roundRect">
                <a:avLst/>
              </a:prstGeom>
              <a:blipFill>
                <a:blip r:embed="rId7"/>
                <a:stretch>
                  <a:fillRect t="-11818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7C97C2B-D3C3-8953-951B-D8DACC98C043}"/>
              </a:ext>
            </a:extLst>
          </p:cNvPr>
          <p:cNvSpPr/>
          <p:nvPr/>
        </p:nvSpPr>
        <p:spPr>
          <a:xfrm>
            <a:off x="21755258" y="14992303"/>
            <a:ext cx="2621135" cy="38760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Teacher Logits</a:t>
            </a:r>
            <a:endParaRPr lang="el-GR" altLang="zh-CN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167BF88-4A88-C417-2F4C-2E63F9991313}"/>
              </a:ext>
            </a:extLst>
          </p:cNvPr>
          <p:cNvCxnSpPr>
            <a:stCxn id="35" idx="2"/>
            <a:endCxn id="36" idx="0"/>
          </p:cNvCxnSpPr>
          <p:nvPr/>
        </p:nvCxnSpPr>
        <p:spPr>
          <a:xfrm>
            <a:off x="23065826" y="13720379"/>
            <a:ext cx="2959" cy="2877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B92DC7B-C34D-D053-1A38-ABCD5E4A5B89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 flipH="1">
            <a:off x="23065826" y="14664469"/>
            <a:ext cx="2959" cy="32783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D7813E3-C106-BC4F-37CC-ECB23726C3F4}"/>
              </a:ext>
            </a:extLst>
          </p:cNvPr>
          <p:cNvCxnSpPr>
            <a:cxnSpLocks/>
            <a:stCxn id="20" idx="3"/>
            <a:endCxn id="32" idx="1"/>
          </p:cNvCxnSpPr>
          <p:nvPr/>
        </p:nvCxnSpPr>
        <p:spPr>
          <a:xfrm flipV="1">
            <a:off x="20409650" y="14085905"/>
            <a:ext cx="903198" cy="2110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45DA1CF-99C9-F499-0F27-D06C1F3DD882}"/>
              </a:ext>
            </a:extLst>
          </p:cNvPr>
          <p:cNvSpPr txBox="1"/>
          <p:nvPr/>
        </p:nvSpPr>
        <p:spPr>
          <a:xfrm>
            <a:off x="20288400" y="14112821"/>
            <a:ext cx="119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/>
              <a:t>Encrypted Logits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33B4390-4D74-6A28-B2C0-C4231BB9491B}"/>
              </a:ext>
            </a:extLst>
          </p:cNvPr>
          <p:cNvSpPr txBox="1"/>
          <p:nvPr/>
        </p:nvSpPr>
        <p:spPr>
          <a:xfrm>
            <a:off x="20262552" y="13651908"/>
            <a:ext cx="1197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/>
              <a:t>Encrypted Images</a:t>
            </a:r>
            <a:endParaRPr lang="zh-CN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CBC7B97-DB8D-6E20-7C63-B0AEC290773B}"/>
              </a:ext>
            </a:extLst>
          </p:cNvPr>
          <p:cNvSpPr/>
          <p:nvPr/>
        </p:nvSpPr>
        <p:spPr>
          <a:xfrm>
            <a:off x="25389098" y="12296457"/>
            <a:ext cx="3505950" cy="35789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5E3B2A6-9574-9020-D219-AD013D44B8C6}"/>
              </a:ext>
            </a:extLst>
          </p:cNvPr>
          <p:cNvSpPr txBox="1"/>
          <p:nvPr/>
        </p:nvSpPr>
        <p:spPr>
          <a:xfrm>
            <a:off x="26119198" y="12348808"/>
            <a:ext cx="2045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endParaRPr lang="zh-CN" altLang="en-US" b="1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1E18425-694A-9908-8B2B-8B362AF3C32B}"/>
              </a:ext>
            </a:extLst>
          </p:cNvPr>
          <p:cNvSpPr txBox="1"/>
          <p:nvPr/>
        </p:nvSpPr>
        <p:spPr>
          <a:xfrm>
            <a:off x="25763516" y="12642394"/>
            <a:ext cx="2817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 Distillation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63F917F-A6DF-8995-BA37-6A0243961814}"/>
                  </a:ext>
                </a:extLst>
              </p:cNvPr>
              <p:cNvSpPr/>
              <p:nvPr/>
            </p:nvSpPr>
            <p:spPr>
              <a:xfrm>
                <a:off x="25891134" y="12973311"/>
                <a:ext cx="2621135" cy="47051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Augmentation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self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augmentor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imgs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63F917F-A6DF-8995-BA37-6A0243961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1134" y="12973311"/>
                <a:ext cx="2621135" cy="470510"/>
              </a:xfrm>
              <a:prstGeom prst="roundRect">
                <a:avLst/>
              </a:prstGeom>
              <a:blipFill>
                <a:blip r:embed="rId8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2DBABC34-664E-A6E7-0B82-27ECC05D8FF2}"/>
              </a:ext>
            </a:extLst>
          </p:cNvPr>
          <p:cNvSpPr/>
          <p:nvPr/>
        </p:nvSpPr>
        <p:spPr>
          <a:xfrm>
            <a:off x="25891134" y="13640892"/>
            <a:ext cx="2621135" cy="3137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Forward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FDAD9239-E046-4302-E283-838440E4CD7E}"/>
                  </a:ext>
                </a:extLst>
              </p:cNvPr>
              <p:cNvSpPr/>
              <p:nvPr/>
            </p:nvSpPr>
            <p:spPr>
              <a:xfrm>
                <a:off x="25793014" y="14151693"/>
                <a:ext cx="2817370" cy="6302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KD Loss + CE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KD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e>
                        <m:sup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∙ 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KL</m:t>
                      </m:r>
                      <m:d>
                        <m:d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CE</m:t>
                          </m:r>
                        </m:sub>
                      </m:sSub>
                      <m: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altLang="zh-CN" sz="1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CE</m:t>
                      </m:r>
                      <m:d>
                        <m:dPr>
                          <m:ctrl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Student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12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logits</m:t>
                              </m:r>
                            </m:sub>
                          </m:sSub>
                          <m: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sz="1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labels</m:t>
                          </m:r>
                        </m:e>
                      </m:d>
                    </m:oMath>
                  </m:oMathPara>
                </a14:m>
                <a:endParaRPr lang="en-US" altLang="zh-CN" sz="12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FDAD9239-E046-4302-E283-838440E4CD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3014" y="14151693"/>
                <a:ext cx="2817370" cy="630209"/>
              </a:xfrm>
              <a:prstGeom prst="roundRect">
                <a:avLst/>
              </a:prstGeom>
              <a:blipFill>
                <a:blip r:embed="rId9"/>
                <a:stretch>
                  <a:fillRect t="-1887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1B2733F-697B-01BB-18C2-0D2332B3B418}"/>
              </a:ext>
            </a:extLst>
          </p:cNvPr>
          <p:cNvSpPr/>
          <p:nvPr/>
        </p:nvSpPr>
        <p:spPr>
          <a:xfrm>
            <a:off x="26153849" y="14967075"/>
            <a:ext cx="2036704" cy="316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</a:t>
            </a: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FEE55A9-0787-7926-64FD-D9BB14123C0B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>
            <a:off x="27201700" y="13443823"/>
            <a:ext cx="0" cy="1970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7A298F8-C62A-FF84-CDED-C8811B890387}"/>
              </a:ext>
            </a:extLst>
          </p:cNvPr>
          <p:cNvCxnSpPr>
            <a:stCxn id="47" idx="2"/>
            <a:endCxn id="48" idx="0"/>
          </p:cNvCxnSpPr>
          <p:nvPr/>
        </p:nvCxnSpPr>
        <p:spPr>
          <a:xfrm flipH="1">
            <a:off x="27201701" y="13954622"/>
            <a:ext cx="1" cy="19707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B5EF59-F913-285B-F5E1-7965A50CDF88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27201700" y="14781902"/>
            <a:ext cx="1" cy="189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D23926B-CCB7-8000-8CCD-542DD09D35F3}"/>
              </a:ext>
            </a:extLst>
          </p:cNvPr>
          <p:cNvCxnSpPr>
            <a:cxnSpLocks/>
            <a:stCxn id="32" idx="3"/>
            <a:endCxn id="43" idx="1"/>
          </p:cNvCxnSpPr>
          <p:nvPr/>
        </p:nvCxnSpPr>
        <p:spPr>
          <a:xfrm>
            <a:off x="24818798" y="14085906"/>
            <a:ext cx="57030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1AB43076-A904-4EDD-8EA1-2C347721DAE3}"/>
              </a:ext>
            </a:extLst>
          </p:cNvPr>
          <p:cNvSpPr/>
          <p:nvPr/>
        </p:nvSpPr>
        <p:spPr>
          <a:xfrm>
            <a:off x="26153849" y="15456720"/>
            <a:ext cx="2036704" cy="31678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Student Model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C31B6F37-710B-627A-A0D4-0E8D13BAB1DA}"/>
              </a:ext>
            </a:extLst>
          </p:cNvPr>
          <p:cNvCxnSpPr>
            <a:cxnSpLocks/>
          </p:cNvCxnSpPr>
          <p:nvPr/>
        </p:nvCxnSpPr>
        <p:spPr>
          <a:xfrm flipH="1">
            <a:off x="27201700" y="15272812"/>
            <a:ext cx="1" cy="18986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162FAB0-B49B-014E-F924-717F62DDD178}"/>
              </a:ext>
            </a:extLst>
          </p:cNvPr>
          <p:cNvCxnSpPr/>
          <p:nvPr/>
        </p:nvCxnSpPr>
        <p:spPr>
          <a:xfrm>
            <a:off x="20906742" y="11591925"/>
            <a:ext cx="0" cy="574040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2439188E-DECF-1690-3E71-144EAB98F751}"/>
                  </a:ext>
                </a:extLst>
              </p:cNvPr>
              <p:cNvSpPr txBox="1"/>
              <p:nvPr/>
            </p:nvSpPr>
            <p:spPr>
              <a:xfrm>
                <a:off x="11653036" y="13007040"/>
                <a:ext cx="21313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b-NO" altLang="zh-C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Private Data D = {(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altLang="zh-C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nb-NO" altLang="zh-CN" sz="1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nb-NO" altLang="zh-CN" sz="1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)}</a:t>
                </a:r>
                <a:endParaRPr lang="zh-CN" altLang="en-US" sz="1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2439188E-DECF-1690-3E71-144EAB98F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3036" y="13007040"/>
                <a:ext cx="2131353" cy="307777"/>
              </a:xfrm>
              <a:prstGeom prst="rect">
                <a:avLst/>
              </a:prstGeom>
              <a:blipFill>
                <a:blip r:embed="rId10"/>
                <a:stretch>
                  <a:fillRect l="-860" t="-4000" r="-287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>
            <a:extLst>
              <a:ext uri="{FF2B5EF4-FFF2-40B4-BE49-F238E27FC236}">
                <a16:creationId xmlns:a16="http://schemas.microsoft.com/office/drawing/2014/main" id="{3D28E99A-BF2C-FE5F-7044-0365B8D05DEB}"/>
              </a:ext>
            </a:extLst>
          </p:cNvPr>
          <p:cNvSpPr/>
          <p:nvPr/>
        </p:nvSpPr>
        <p:spPr>
          <a:xfrm>
            <a:off x="11049000" y="11699875"/>
            <a:ext cx="9643109" cy="5064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21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2415</TotalTime>
  <Words>793</Words>
  <Application>Microsoft Office PowerPoint</Application>
  <PresentationFormat>自定义</PresentationFormat>
  <Paragraphs>247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Lau</dc:creator>
  <cp:lastModifiedBy>Andy Lau</cp:lastModifiedBy>
  <cp:revision>58</cp:revision>
  <dcterms:created xsi:type="dcterms:W3CDTF">2026-03-11T02:55:13Z</dcterms:created>
  <dcterms:modified xsi:type="dcterms:W3CDTF">2026-03-18T14:46:29Z</dcterms:modified>
</cp:coreProperties>
</file>